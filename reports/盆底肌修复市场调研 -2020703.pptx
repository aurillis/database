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90" r:id="rId8"/>
    <p:sldId id="261" r:id="rId9"/>
    <p:sldId id="262" r:id="rId10"/>
    <p:sldId id="292" r:id="rId11"/>
    <p:sldId id="293" r:id="rId12"/>
    <p:sldId id="294" r:id="rId13"/>
    <p:sldId id="265" r:id="rId14"/>
    <p:sldId id="267" r:id="rId15"/>
    <p:sldId id="268" r:id="rId16"/>
    <p:sldId id="301" r:id="rId17"/>
    <p:sldId id="302" r:id="rId18"/>
    <p:sldId id="269" r:id="rId19"/>
    <p:sldId id="300" r:id="rId20"/>
    <p:sldId id="271" r:id="rId21"/>
    <p:sldId id="272" r:id="rId22"/>
    <p:sldId id="321" r:id="rId23"/>
    <p:sldId id="305" r:id="rId24"/>
    <p:sldId id="306" r:id="rId25"/>
    <p:sldId id="307" r:id="rId26"/>
    <p:sldId id="276" r:id="rId27"/>
    <p:sldId id="277" r:id="rId28"/>
    <p:sldId id="311" r:id="rId29"/>
    <p:sldId id="312" r:id="rId30"/>
    <p:sldId id="280" r:id="rId31"/>
    <p:sldId id="316" r:id="rId32"/>
    <p:sldId id="282" r:id="rId33"/>
    <p:sldId id="322" r:id="rId34"/>
    <p:sldId id="324" r:id="rId35"/>
    <p:sldId id="285" r:id="rId36"/>
    <p:sldId id="289" r:id="rId37"/>
  </p:sldIdLst>
  <p:sldSz cx="12192000" cy="6858000" type="screen4x3"/>
  <p:notesSz cx="6858000" cy="9144000"/>
  <p:custDataLst>
    <p:tags r:id="rId4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2" userDrawn="1">
          <p15:clr>
            <a:srgbClr val="A4A3A4"/>
          </p15:clr>
        </p15:guide>
        <p15:guide id="2" pos="2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BF19F91-5FCB-4203-B6CE-8DD193DEE772}" styleName="三线式标题行镶边行表格样式_1 2 2">
    <a:wholeTbl>
      <a:tcTxStyle>
        <a:fontRef idx="none">
          <a:srgbClr val="08090C"/>
        </a:fontRef>
      </a:tcTxStyle>
      <a:tcStyle>
        <a:tcBdr/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F2F2F2"/>
          </a:solidFill>
        </a:fill>
      </a:tcStyle>
    </a:band2H>
    <a:band1V>
      <a:tcStyle>
        <a:tcBdr/>
        <a:fill>
          <a:solidFill>
            <a:srgbClr val="F2F2F2"/>
          </a:solidFill>
        </a:fill>
      </a:tcStyle>
    </a:band1V>
    <a:lastCol>
      <a:tcTxStyle b="on">
        <a:fontRef idx="none">
          <a:schemeClr val="accent6"/>
        </a:fontRef>
      </a:tcTxStyle>
      <a:tcStyle>
        <a:tcBdr/>
        <a:fill>
          <a:solidFill>
            <a:schemeClr val="bg1">
              <a:lumMod val="90002"/>
            </a:schemeClr>
          </a:solidFill>
        </a:fill>
      </a:tcStyle>
    </a:lastCol>
    <a:firstCol>
      <a:tcTxStyle b="on">
        <a:fontRef idx="none">
          <a:schemeClr val="accent6"/>
        </a:fontRef>
      </a:tcTxStyle>
      <a:tcStyle>
        <a:tcBdr/>
        <a:fill>
          <a:solidFill>
            <a:schemeClr val="bg1">
              <a:lumMod val="90002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/>
        <a:fill>
          <a:solidFill>
            <a:schemeClr val="accent6">
              <a:lumMod val="20000"/>
              <a:lumOff val="80000"/>
            </a:schemeClr>
          </a:solidFill>
        </a:fill>
      </a:tcStyle>
    </a:lastRow>
    <a:firstRow>
      <a:tcTxStyle b="on">
        <a:fontRef idx="none">
          <a:schemeClr val="accent6"/>
        </a:fontRef>
      </a:tcTxStyle>
      <a:tcStyle>
        <a:tcBdr/>
        <a:fill>
          <a:solidFill>
            <a:schemeClr val="accent6">
              <a:lumMod val="20000"/>
              <a:lumOff val="80000"/>
            </a:schemeClr>
          </a:solidFill>
        </a:fill>
      </a:tcStyle>
    </a:firstRow>
  </a:tblStyle>
  <a:tblStyle styleId="{5979E25E-8012-40AD-86DF-D6A0B639A2BF}" styleName="三线式标题行镶边行表格样式_1 2 2">
    <a:wholeTbl>
      <a:tcTxStyle>
        <a:fontRef idx="none">
          <a:srgbClr val="08090C"/>
        </a:fontRef>
      </a:tcTxStyle>
      <a:tcStyle>
        <a:tcBdr/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F2F2F2"/>
          </a:solidFill>
        </a:fill>
      </a:tcStyle>
    </a:band2H>
    <a:band1V>
      <a:tcStyle>
        <a:tcBdr/>
        <a:fill>
          <a:solidFill>
            <a:srgbClr val="F2F2F2"/>
          </a:solidFill>
        </a:fill>
      </a:tcStyle>
    </a:band1V>
    <a:lastCol>
      <a:tcTxStyle b="on">
        <a:fontRef idx="none">
          <a:schemeClr val="accent6"/>
        </a:fontRef>
      </a:tcTxStyle>
      <a:tcStyle>
        <a:tcBdr/>
        <a:fill>
          <a:solidFill>
            <a:schemeClr val="bg1">
              <a:lumMod val="90002"/>
            </a:schemeClr>
          </a:solidFill>
        </a:fill>
      </a:tcStyle>
    </a:lastCol>
    <a:firstCol>
      <a:tcTxStyle b="on">
        <a:fontRef idx="none">
          <a:schemeClr val="accent6"/>
        </a:fontRef>
      </a:tcTxStyle>
      <a:tcStyle>
        <a:tcBdr/>
        <a:fill>
          <a:solidFill>
            <a:schemeClr val="bg1">
              <a:lumMod val="90002"/>
            </a:schemeClr>
          </a:solidFill>
        </a:fill>
      </a:tcStyle>
    </a:firstCol>
    <a:lastRow>
      <a:tcTxStyle b="on">
        <a:fontRef idx="none">
          <a:schemeClr val="accent6"/>
        </a:fontRef>
      </a:tcTxStyle>
      <a:tcStyle>
        <a:tcBdr/>
        <a:fill>
          <a:solidFill>
            <a:schemeClr val="accent6">
              <a:lumMod val="20000"/>
              <a:lumOff val="80000"/>
            </a:schemeClr>
          </a:solidFill>
        </a:fill>
      </a:tcStyle>
    </a:lastRow>
    <a:firstRow>
      <a:tcTxStyle b="on">
        <a:fontRef idx="none">
          <a:schemeClr val="accent6"/>
        </a:fontRef>
      </a:tcTxStyle>
      <a:tcStyle>
        <a:tcBdr/>
        <a:fill>
          <a:solidFill>
            <a:schemeClr val="accent6">
              <a:lumMod val="20000"/>
              <a:lumOff val="80000"/>
            </a:schemeClr>
          </a:solidFill>
        </a:fill>
      </a:tcStyle>
    </a:firstRow>
  </a:tblStyle>
  <a:tblStyle styleId="{19342E3B-280C-435C-ACC9-8C94A79E51A0}" styleName="表样式 1 25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chemeClr val="dk1"/>
              </a:solidFill>
              <a:prstDash val="solid"/>
            </a:ln>
          </a:left>
          <a:right>
            <a:ln w="12700" cmpd="sng">
              <a:solidFill>
                <a:schemeClr val="dk1"/>
              </a:solidFill>
              <a:prstDash val="solid"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dk1">
              <a:lumMod val="10000"/>
              <a:lumOff val="90000"/>
            </a:schemeClr>
          </a:solidFill>
        </a:fill>
      </a:tcStyle>
    </a:band2H>
    <a:band1V>
      <a:tcStyle>
        <a:tcBdr>
          <a:left>
            <a:ln w="12700" cmpd="sng">
              <a:solidFill>
                <a:schemeClr val="dk1"/>
              </a:solidFill>
              <a:prstDash val="solid"/>
            </a:ln>
          </a:left>
          <a:right>
            <a:ln w="12700" cmpd="sng">
              <a:solidFill>
                <a:schemeClr val="dk1"/>
              </a:solidFill>
              <a:prstDash val="solid"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10000"/>
              <a:lumOff val="90000"/>
            </a:schemeClr>
          </a:solidFill>
        </a:fill>
      </a:tcStyle>
    </a:band1V>
    <a:band2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bg1"/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dk1"/>
              </a:solidFill>
              <a:prstDash val="solid"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chemeClr val="dk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dk1"/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 w="12700" cmpd="sng">
              <a:solidFill>
                <a:schemeClr val="dk1"/>
              </a:solidFill>
              <a:prstDash val="solid"/>
            </a:ln>
          </a:left>
          <a:right>
            <a:ln w="12700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12700" cmpd="sng">
              <a:solidFill>
                <a:schemeClr val="dk1"/>
              </a:solidFill>
              <a:prstDash val="solid"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dk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 w="12700" cmpd="sng">
              <a:solidFill>
                <a:schemeClr val="dk1"/>
              </a:solidFill>
              <a:prstDash val="solid"/>
            </a:ln>
          </a:left>
          <a:right>
            <a:ln w="12700" cmpd="sng">
              <a:solidFill>
                <a:schemeClr val="dk1"/>
              </a:solidFill>
              <a:prstDash val="solid"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dk1"/>
          </a:solidFill>
        </a:fill>
      </a:tcStyle>
    </a:firstRow>
    <a:neCell>
      <a:tcStyle>
        <a:tcBdr>
          <a:lef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left>
          <a:right>
            <a:ln w="12700" cmpd="sng">
              <a:solidFill>
                <a:schemeClr val="dk1"/>
              </a:solidFill>
              <a:prstDash val="solid"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/>
          </a:solidFill>
        </a:fill>
      </a:tcStyle>
    </a:neCell>
    <a:nwCell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dk1"/>
              </a:solidFill>
              <a:prstDash val="solid"/>
            </a:ln>
          </a:left>
          <a:right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right>
          <a:top>
            <a:ln w="12700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/>
          </a:solidFill>
        </a:fill>
      </a:tcStyle>
    </a:nwCell>
  </a:tblStyle>
  <a:tblStyle styleId="{55792912-25BC-47F8-8706-11CC835A840C}" styleName="补充样式9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dk1">
              <a:lumMod val="10001"/>
              <a:lumOff val="89999"/>
            </a:schemeClr>
          </a:solidFill>
        </a:fill>
      </a:tcStyle>
    </a:band2H>
    <a:band1V>
      <a:tcStyle>
        <a:tcBdr/>
        <a:fill>
          <a:solidFill>
            <a:schemeClr val="dk1">
              <a:lumMod val="10001"/>
              <a:lumOff val="89999"/>
            </a:schemeClr>
          </a:solidFill>
        </a:fill>
      </a:tcStyle>
    </a:band1V>
    <a:lastCol>
      <a:tcStyle>
        <a:tcBdr/>
        <a:fill>
          <a:solidFill>
            <a:schemeClr val="dk1">
              <a:lumMod val="20002"/>
              <a:lumOff val="79998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/>
      </a:tcStyle>
    </a:firstCol>
    <a:la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tx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wCell>
      <a:tcTxStyle b="on">
        <a:fontRef idx="none">
          <a:srgbClr val="000000"/>
        </a:fontRef>
      </a:tcTxStyle>
      <a:tcStyle>
        <a:tcBdr/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9050" cmpd="sng">
              <a:solidFill>
                <a:schemeClr val="bg1"/>
              </a:solidFill>
              <a:prstDash val="solid"/>
            </a:ln>
          </a:insideH>
          <a:insideV>
            <a:ln w="19050" cmpd="sng">
              <a:solidFill>
                <a:schemeClr val="bg1"/>
              </a:solidFill>
              <a:prstDash val="solid"/>
            </a:ln>
          </a:insideV>
        </a:tcBdr>
        <a:fill>
          <a:solidFill>
            <a:schemeClr val="dk1"/>
          </a:solidFill>
        </a:fill>
      </a:tcStyle>
    </a:firstRow>
    <a:nwCell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 w="19050" cmpd="sng">
              <a:solidFill>
                <a:srgbClr val="FFFFFF"/>
              </a:solidFill>
              <a:prstDash val="solid"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3F3F3F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72"/>
        <p:guide pos="28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gs" Target="tags/tag13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市场缺口：</a:t>
            </a:r>
            <a:r>
              <a:rPr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患者因羞耻感/认知不足/医疗门槛高而未获干预，居家康复是关键入口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top3</a:t>
            </a:r>
            <a:r>
              <a:rPr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品牌集中度：CR3=64%</a:t>
            </a:r>
            <a:r>
              <a:rPr lang="zh-CN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Perifit 32%</a:t>
            </a:r>
            <a:r>
              <a:rPr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 游戏化路线的绝对领跑者，$116.8万</a:t>
            </a:r>
            <a:r>
              <a:rPr lang="zh-CN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K-fit 19%</a:t>
            </a:r>
            <a:r>
              <a:rPr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 ETS(</a:t>
            </a:r>
            <a:r>
              <a:rPr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EMG触发NMES</a:t>
            </a:r>
            <a:r>
              <a:rPr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)技术最先进，$53.3万</a:t>
            </a:r>
            <a:r>
              <a:rPr lang="zh-CN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iSTIM 13%</a:t>
            </a:r>
            <a:r>
              <a:rPr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 单通道纯NMES低价走量，$29.8万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DTC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模式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，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即“直面消费者”模式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一次性棉条式：通过（低频脉冲电流）脉冲式电刺激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来作用盆底肌的，也是用的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NMES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电刺激类型。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数字疗法：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 = 通过软件 + 数据 + 行为干预来治疗疾病的医疗方式，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（无电刺激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肌电反馈），它的核心不是硬件，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而是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治疗协议、行为训练、数据反馈、临床验证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主要是学习该品牌的多通道压力监测、</a:t>
            </a:r>
            <a:r>
              <a:rPr lang="en-US" altLang="zh-CN"/>
              <a:t>EMG</a:t>
            </a:r>
            <a:r>
              <a:rPr lang="zh-CN" altLang="en-US"/>
              <a:t>生物反馈</a:t>
            </a:r>
            <a:r>
              <a:rPr lang="en-US" altLang="zh-CN"/>
              <a:t>+</a:t>
            </a:r>
            <a:r>
              <a:rPr lang="zh-CN" altLang="en-US"/>
              <a:t>电刺激</a:t>
            </a:r>
            <a:r>
              <a:rPr lang="en-US" altLang="zh-CN"/>
              <a:t>  </a:t>
            </a:r>
            <a:r>
              <a:rPr lang="zh-CN" altLang="en-US"/>
              <a:t>。</a:t>
            </a:r>
            <a:r>
              <a:rPr lang="en-US" altLang="zh-CN"/>
              <a:t>OAB</a:t>
            </a:r>
            <a:r>
              <a:rPr lang="zh-CN" altLang="en-US"/>
              <a:t>：膀胱过度活动症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产品发展：盆底肌</a:t>
            </a:r>
            <a:r>
              <a:rPr lang="en-US" altLang="zh-CN">
                <a:sym typeface="+mn-ea"/>
              </a:rPr>
              <a:t>  →   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盆底肌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+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腹直肌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  </a:t>
            </a:r>
            <a:r>
              <a:rPr lang="en-US" altLang="zh-CN">
                <a:sym typeface="+mn-ea"/>
              </a:rPr>
              <a:t>→    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盆底肌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+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腹直肌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+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私密抗衰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  →   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盆底修复+腹直肌修复+私密抗衰+胸部维护+纤体塑形（皮肤电极片）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2024-2026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都有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AI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定制功能</a:t>
            </a:r>
            <a:endParaRPr lang="zh-CN" altLang="en-US">
              <a:ea typeface="宋体" panose="02010600030101010101" pitchFamily="2" charset="-122"/>
              <a:sym typeface="+mn-ea"/>
            </a:endParaRPr>
          </a:p>
          <a:p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 — 国内唯一EMG+压力+EMS+AI全链路融合</a:t>
            </a: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endParaRPr lang="zh-CN" altLang="en-US"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核心洞察</a:t>
            </a: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① 基本需求已普遍满足 →「安全舒适」是入场券，不是差异化</a:t>
            </a: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② 期望需求是当前竞争主战场→ 但纯生物反馈/纯电刺激均无法完整满足</a:t>
            </a: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③ 魅力需求是突破点→ AI评估+闭环反馈+自适应才是蓝海</a:t>
            </a:r>
            <a:r>
              <a:rPr lang="zh-CN"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④ 反向需求杀死产品→ 医疗感过重是电刺激产品的致命伤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结构性问题</a:t>
            </a:r>
            <a:b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b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生物反馈类设备被视为「无效」，本质原因是用户未完成从「肌电感知」到「神经肌肉控制」的学习闭环。设备仅提供「可视化信号」，但未实现「动作纠错与神经重建」。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>
              <a:defRPr sz="1200" b="0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电刺激产品「疗效明确但体验差」，核心矛盾是：疗效依赖「精准电参数控制」，但缺少EMG感知反馈导致「盲刺激」。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根本解法：EMG采集→AI分析肌肉状态→自适应调节EMS参数→用户感知康复进展。从「盲刺激」到「AI闭环刺激」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>
              <a:spcBef>
                <a:spcPts val="200"/>
              </a:spcBef>
              <a:spcAft>
                <a:spcPts val="400"/>
              </a:spcAft>
            </a:pPr>
            <a:r>
              <a:rPr>
                <a:sym typeface="+mn-ea"/>
              </a:rPr>
              <a:t>技术趋势：从纯生物反馈/纯电刺激 → EMG+EMS融合 → AI闭环自适应 → 个性化数字疗法</a:t>
            </a:r>
            <a:r>
              <a:rPr lang="zh-CN">
                <a:sym typeface="+mn-ea"/>
              </a:rPr>
              <a:t>。</a:t>
            </a:r>
            <a:r>
              <a:rPr b="1">
                <a:solidFill>
                  <a:srgbClr val="14746F"/>
                </a:solidFill>
                <a:latin typeface="微软雅黑" panose="020B0503020204020204" charset="-122"/>
                <a:sym typeface="+mn-ea"/>
              </a:rPr>
              <a:t>融合路线的核心壁垒：</a:t>
            </a:r>
            <a:r>
              <a:rPr>
                <a:solidFill>
                  <a:srgbClr val="1A1A2E"/>
                </a:solidFill>
                <a:latin typeface="微软雅黑" panose="020B0503020204020204" charset="-122"/>
                <a:sym typeface="+mn-ea"/>
              </a:rPr>
              <a:t>EMG信号准确采集 → AI多维度分析（力量/耐力/控制/疲劳）→ EMS参数自适应调节 → 实时效果量化</a:t>
            </a:r>
            <a:r>
              <a:rPr lang="zh-CN">
                <a:solidFill>
                  <a:srgbClr val="1A1A2E"/>
                </a:solidFill>
                <a:latin typeface="微软雅黑" panose="020B0503020204020204" charset="-122"/>
                <a:sym typeface="+mn-ea"/>
              </a:rPr>
              <a:t>。</a:t>
            </a:r>
            <a:r>
              <a:rPr b="1">
                <a:solidFill>
                  <a:srgbClr val="14746F"/>
                </a:solidFill>
                <a:latin typeface="微软雅黑" panose="020B0503020204020204" charset="-122"/>
                <a:sym typeface="+mn-ea"/>
              </a:rPr>
              <a:t>不是简单的「1+1=2」</a:t>
            </a:r>
            <a:r>
              <a:rPr>
                <a:solidFill>
                  <a:srgbClr val="1A1A2E"/>
                </a:solidFill>
                <a:latin typeface="微软雅黑" panose="020B0503020204020204" charset="-122"/>
                <a:sym typeface="+mn-ea"/>
              </a:rPr>
              <a:t>——需要解决EMG与EMS在同一个探头上的电气隔离、信号串扰、实时闭环延迟三大工程难题</a:t>
            </a:r>
            <a:endParaRPr>
              <a:solidFill>
                <a:srgbClr val="1A1A2E"/>
              </a:solidFill>
              <a:latin typeface="微软雅黑" panose="020B0503020204020204" charset="-122"/>
            </a:endParaRPr>
          </a:p>
          <a:p>
            <a:endParaRPr lang="zh-CN"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>
                <a:sym typeface="+mn-ea"/>
              </a:rPr>
              <a:t>一种能够感知外界物理、化学或生物信息，并将其转换成可测量电信号的器件。传感器是生物反馈类产品中至关重要的器件，目前市面上的用到的基本都是力学传感器、后续产品升级、生物反馈</a:t>
            </a:r>
            <a:r>
              <a:rPr lang="en-US" altLang="zh-CN">
                <a:sym typeface="+mn-ea"/>
              </a:rPr>
              <a:t>+</a:t>
            </a:r>
            <a:r>
              <a:rPr lang="zh-CN" altLang="en-US">
                <a:sym typeface="+mn-ea"/>
              </a:rPr>
              <a:t>电刺激组合产品</a:t>
            </a:r>
            <a:r>
              <a:rPr lang="en-US" altLang="zh-CN">
                <a:sym typeface="+mn-ea"/>
              </a:rPr>
              <a:t>EMG</a:t>
            </a:r>
            <a:r>
              <a:rPr lang="zh-CN" altLang="en-US">
                <a:sym typeface="+mn-ea"/>
              </a:rPr>
              <a:t>传感器是重中之重的。它能识别肌肉</a:t>
            </a:r>
            <a:r>
              <a:rPr lang="zh-CN" altLang="en-US">
                <a:sym typeface="+mn-ea"/>
              </a:rPr>
              <a:t>状态</a:t>
            </a:r>
            <a:endParaRPr lang="zh-CN" altLang="en-US">
              <a:sym typeface="+mn-e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技术趋势：从“单点测力量”向“多点评质量”演进，柔性化与AI算法结合是未来核心竞争力。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柔性盆底肌训练器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指的是从“硬质阴道探头 + 单通道刺激/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EMG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采集”，升级为“可形变贴合 + 多点阵列感知 + 分布式电刺激 + 闭环控制”的新一代盆底肌训练系统。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ym typeface="+mn-ea"/>
              </a:rPr>
              <a:t>盆底肌训练器的转化难点不在购买那一刻，而在第一次正确使用和持续训练。</a:t>
            </a:r>
            <a:endParaRPr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家用 EMG + EMS 设备的真实流失原因，本质集中在闭环、个体化与医疗级结果可视化</a:t>
            </a:r>
            <a:r>
              <a:rPr lang="zh-CN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altLang="en-US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生物反馈类盆底肌训练器被认为“无效”，本质原因是用户未完成从肌电感知到神经肌肉控制的学习闭环，导致设备仅提供“可视化信号”，但未实现“动作纠错与神经重建”。</a:t>
            </a:r>
            <a:endParaRPr lang="zh-CN" altLang="en-US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生物：学习时间长，短期无效果会放弃，电刺激：被动刺激，无学习发力，停止刺激效果缩减。生物</a:t>
            </a:r>
            <a:r>
              <a:rPr lang="en-US" altLang="zh-CN"/>
              <a:t>+</a:t>
            </a:r>
            <a:r>
              <a:rPr lang="zh-CN" altLang="en-US"/>
              <a:t>电刺激</a:t>
            </a:r>
            <a:r>
              <a:rPr lang="en-US" altLang="zh-CN"/>
              <a:t>=</a:t>
            </a:r>
            <a:r>
              <a:rPr lang="zh-CN" altLang="en-US"/>
              <a:t>先感知肌肉，分析肌肉</a:t>
            </a:r>
            <a:r>
              <a:rPr lang="en-US" altLang="zh-CN"/>
              <a:t>-</a:t>
            </a:r>
            <a:r>
              <a:rPr lang="zh-CN" altLang="en-US"/>
              <a:t>可视化呈现肌肉发力</a:t>
            </a:r>
            <a:r>
              <a:rPr lang="en-US" altLang="zh-CN"/>
              <a:t>-</a:t>
            </a:r>
            <a:r>
              <a:rPr lang="zh-CN" altLang="en-US"/>
              <a:t>智能分析</a:t>
            </a:r>
            <a:r>
              <a:rPr lang="en-US" altLang="zh-CN"/>
              <a:t>-</a:t>
            </a:r>
            <a:r>
              <a:rPr lang="zh-CN" altLang="en-US"/>
              <a:t>电刺激</a:t>
            </a:r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① 用户主动收缩（核心起点）- ② </a:t>
            </a:r>
            <a:r>
              <a:rPr lang="en-US" altLang="zh-CN"/>
              <a:t>EMG</a:t>
            </a:r>
            <a:r>
              <a:rPr lang="zh-CN" altLang="en-US"/>
              <a:t>采集（肌肉电信号）-③ </a:t>
            </a:r>
            <a:r>
              <a:rPr lang="en-US" altLang="zh-CN"/>
              <a:t>AI</a:t>
            </a:r>
            <a:r>
              <a:rPr lang="zh-CN" altLang="en-US"/>
              <a:t>分析（是否正确发力）-④ </a:t>
            </a:r>
            <a:r>
              <a:rPr lang="en-US" altLang="zh-CN"/>
              <a:t>EMS</a:t>
            </a:r>
            <a:r>
              <a:rPr lang="zh-CN" altLang="en-US"/>
              <a:t>辅助刺激（纠错/增强）-⑤ 用户再次调整收缩-⑥ 神经肌肉学习形成→ 回到①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2" Type="http://schemas.openxmlformats.org/officeDocument/2006/relationships/notesSlide" Target="../notesSlides/notesSlide3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58.xml"/><Relationship Id="rId2" Type="http://schemas.openxmlformats.org/officeDocument/2006/relationships/tags" Target="../tags/tag40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tags" Target="../tags/tag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72.xml"/><Relationship Id="rId25" Type="http://schemas.openxmlformats.org/officeDocument/2006/relationships/image" Target="../media/image17.svg"/><Relationship Id="rId24" Type="http://schemas.openxmlformats.org/officeDocument/2006/relationships/image" Target="../media/image16.png"/><Relationship Id="rId23" Type="http://schemas.openxmlformats.org/officeDocument/2006/relationships/tags" Target="../tags/tag71.xml"/><Relationship Id="rId22" Type="http://schemas.openxmlformats.org/officeDocument/2006/relationships/tags" Target="../tags/tag70.xml"/><Relationship Id="rId21" Type="http://schemas.openxmlformats.org/officeDocument/2006/relationships/tags" Target="../tags/tag69.xml"/><Relationship Id="rId20" Type="http://schemas.openxmlformats.org/officeDocument/2006/relationships/image" Target="../media/image15.svg"/><Relationship Id="rId2" Type="http://schemas.openxmlformats.org/officeDocument/2006/relationships/image" Target="../media/image5.png"/><Relationship Id="rId19" Type="http://schemas.openxmlformats.org/officeDocument/2006/relationships/image" Target="../media/image14.png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image" Target="../media/image13.svg"/><Relationship Id="rId14" Type="http://schemas.openxmlformats.org/officeDocument/2006/relationships/image" Target="../media/image12.png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image" Target="../media/image11.svg"/><Relationship Id="rId1" Type="http://schemas.openxmlformats.org/officeDocument/2006/relationships/tags" Target="../tags/tag6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4.png"/><Relationship Id="rId17" Type="http://schemas.openxmlformats.org/officeDocument/2006/relationships/tags" Target="../tags/tag88.xml"/><Relationship Id="rId16" Type="http://schemas.openxmlformats.org/officeDocument/2006/relationships/image" Target="../media/image23.png"/><Relationship Id="rId15" Type="http://schemas.openxmlformats.org/officeDocument/2006/relationships/tags" Target="../tags/tag87.xml"/><Relationship Id="rId14" Type="http://schemas.openxmlformats.org/officeDocument/2006/relationships/image" Target="../media/image22.png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tags" Target="../tags/tag7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5.png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89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6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10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9" Type="http://schemas.openxmlformats.org/officeDocument/2006/relationships/notesSlide" Target="../notesSlides/notesSlide17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132.xml"/><Relationship Id="rId26" Type="http://schemas.openxmlformats.org/officeDocument/2006/relationships/tags" Target="../tags/tag131.xml"/><Relationship Id="rId25" Type="http://schemas.openxmlformats.org/officeDocument/2006/relationships/tags" Target="../tags/tag130.xml"/><Relationship Id="rId24" Type="http://schemas.openxmlformats.org/officeDocument/2006/relationships/tags" Target="../tags/tag129.xml"/><Relationship Id="rId23" Type="http://schemas.openxmlformats.org/officeDocument/2006/relationships/tags" Target="../tags/tag128.xml"/><Relationship Id="rId22" Type="http://schemas.openxmlformats.org/officeDocument/2006/relationships/tags" Target="../tags/tag127.xml"/><Relationship Id="rId21" Type="http://schemas.openxmlformats.org/officeDocument/2006/relationships/tags" Target="../tags/tag126.xml"/><Relationship Id="rId20" Type="http://schemas.openxmlformats.org/officeDocument/2006/relationships/tags" Target="../tags/tag125.xml"/><Relationship Id="rId2" Type="http://schemas.openxmlformats.org/officeDocument/2006/relationships/image" Target="../media/image29.png"/><Relationship Id="rId19" Type="http://schemas.openxmlformats.org/officeDocument/2006/relationships/tags" Target="../tags/tag124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盆底肌训练器市场调研报告</a:t>
            </a:r>
            <a:endParaRPr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目录</a:t>
            </a:r>
            <a:endParaRPr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>
            <p:custDataLst>
              <p:tags r:id="rId1"/>
            </p:custDataLst>
          </p:nvPr>
        </p:nvSpPr>
        <p:spPr>
          <a:xfrm>
            <a:off x="4077970" y="1337945"/>
            <a:ext cx="457200" cy="4572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4077970" y="138366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01</a:t>
            </a:r>
            <a:endParaRPr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4809490" y="135623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市场分析</a:t>
            </a:r>
            <a:endParaRPr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>
            <p:custDataLst>
              <p:tags r:id="rId4"/>
            </p:custDataLst>
          </p:nvPr>
        </p:nvSpPr>
        <p:spPr>
          <a:xfrm>
            <a:off x="4077970" y="2160905"/>
            <a:ext cx="457200" cy="4572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4077970" y="220662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02</a:t>
            </a:r>
            <a:endParaRPr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4809490" y="2179193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品牌</a:t>
            </a:r>
            <a:r>
              <a:rPr>
                <a:ea typeface="微软雅黑" panose="020B0503020204020204" charset="-122"/>
              </a:rPr>
              <a:t>分析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>
            <p:custDataLst>
              <p:tags r:id="rId7"/>
            </p:custDataLst>
          </p:nvPr>
        </p:nvSpPr>
        <p:spPr>
          <a:xfrm>
            <a:off x="4077970" y="2983865"/>
            <a:ext cx="457200" cy="4572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4077970" y="302958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03</a:t>
            </a:r>
            <a:endParaRPr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4809490" y="300215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产品技术分析</a:t>
            </a:r>
            <a:endParaRPr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4077970" y="3806825"/>
            <a:ext cx="457200" cy="4572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4077970" y="385254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04</a:t>
            </a:r>
            <a:endParaRPr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4809490" y="382511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用户研究</a:t>
            </a:r>
            <a:endParaRPr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>
            <p:custDataLst>
              <p:tags r:id="rId13"/>
            </p:custDataLst>
          </p:nvPr>
        </p:nvSpPr>
        <p:spPr>
          <a:xfrm>
            <a:off x="4077970" y="4629785"/>
            <a:ext cx="457200" cy="4572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4077970" y="467550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05</a:t>
            </a:r>
            <a:endParaRPr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4809490" y="4648073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产品规划</a:t>
            </a:r>
            <a:endParaRPr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>
            <p:custDataLst>
              <p:tags r:id="rId16"/>
            </p:custDataLst>
          </p:nvPr>
        </p:nvSpPr>
        <p:spPr>
          <a:xfrm>
            <a:off x="4077970" y="5452745"/>
            <a:ext cx="457200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17"/>
            </p:custDataLst>
          </p:nvPr>
        </p:nvSpPr>
        <p:spPr>
          <a:xfrm>
            <a:off x="4077970" y="549846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06</a:t>
            </a:r>
            <a:endParaRPr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8"/>
            </p:custDataLst>
          </p:nvPr>
        </p:nvSpPr>
        <p:spPr>
          <a:xfrm>
            <a:off x="4809490" y="5471033"/>
            <a:ext cx="2743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竞品</a:t>
            </a:r>
            <a:r>
              <a:rPr lang="zh-CN" altLang="en-US">
                <a:ea typeface="微软雅黑" panose="020B0503020204020204" charset="-122"/>
              </a:rPr>
              <a:t>拆解</a:t>
            </a:r>
            <a:r>
              <a:rPr>
                <a:ea typeface="微软雅黑" panose="020B0503020204020204" charset="-122"/>
              </a:rPr>
              <a:t>分析</a:t>
            </a:r>
            <a:endParaRPr>
              <a:ea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809490" y="274320"/>
            <a:ext cx="2447290" cy="5740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1F"/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4800" b="1">
                <a:solidFill>
                  <a:srgbClr val="17201F"/>
                </a:solidFill>
                <a:latin typeface="微软雅黑" panose="020B0503020204020204" charset="-122"/>
                <a:ea typeface="微软雅黑" panose="020B0503020204020204" charset="-122"/>
                <a:cs typeface="Aptos Display"/>
              </a:rPr>
              <a:t>目录</a:t>
            </a:r>
            <a:endParaRPr lang="zh-CN" sz="4800" b="1">
              <a:solidFill>
                <a:srgbClr val="17201F"/>
              </a:solidFill>
              <a:latin typeface="微软雅黑" panose="020B0503020204020204" charset="-122"/>
              <a:ea typeface="微软雅黑" panose="020B0503020204020204" charset="-122"/>
              <a:cs typeface="Aptos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01</a:t>
            </a:r>
            <a:endParaRPr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市场分析</a:t>
            </a:r>
            <a:endParaRPr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A8A3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行业定义 · 市场规模  · 亚马逊市场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7280" y="3749039"/>
            <a:ext cx="2743200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01625"/>
            <a:ext cx="738124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</a:rPr>
              <a:t>盆底肌定义</a:t>
            </a:r>
            <a:endParaRPr sz="2800"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4680" y="1508760"/>
            <a:ext cx="5943600" cy="8147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盆底肌功能：</a:t>
            </a:r>
            <a:r>
              <a:rPr sz="12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托住膀胱/子宫/前列腺/直肠三大器官，同时控制尿道、阴道、肛门开合</a:t>
            </a:r>
            <a:endParaRPr sz="12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endParaRPr sz="12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患病规模：</a:t>
            </a:r>
            <a:r>
              <a:rPr sz="12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全球约1/3女性一生中经历盆底功能障碍（尿/粪失禁、盆腔器官脱垂、慢性盆腔疼痛、性功能障碍）</a:t>
            </a:r>
            <a:endParaRPr sz="12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endParaRPr sz="12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1"/>
            </p:custDataLst>
          </p:nvPr>
        </p:nvSpPr>
        <p:spPr>
          <a:xfrm>
            <a:off x="6924040" y="1454150"/>
            <a:ext cx="41148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>
            <p:custDataLst>
              <p:tags r:id="rId2"/>
            </p:custDataLst>
          </p:nvPr>
        </p:nvSpPr>
        <p:spPr>
          <a:xfrm>
            <a:off x="6924040" y="1454150"/>
            <a:ext cx="41148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7061200" y="156387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松弛型（Hypotonic）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7033768" y="1911350"/>
            <a:ext cx="3895344" cy="9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核心方向：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力量训练、反馈训练、产后恢复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典型场景：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产后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漏尿、核心稳定不足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产品机会：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生物反馈 + APP训练计划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关键提醒：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需精准识别正确发力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5"/>
            </p:custDataLst>
          </p:nvPr>
        </p:nvSpPr>
        <p:spPr>
          <a:xfrm>
            <a:off x="6924040" y="3740150"/>
            <a:ext cx="41148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>
            <p:custDataLst>
              <p:tags r:id="rId6"/>
            </p:custDataLst>
          </p:nvPr>
        </p:nvSpPr>
        <p:spPr>
          <a:xfrm>
            <a:off x="6924040" y="3740150"/>
            <a:ext cx="411480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7061200" y="384987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高张型（Hypertonic）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8"/>
            </p:custDataLst>
          </p:nvPr>
        </p:nvSpPr>
        <p:spPr>
          <a:xfrm>
            <a:off x="7033768" y="4197350"/>
            <a:ext cx="3895344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核心方向：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放松训练、疼痛管理、专业指导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典型风险：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盲目Kegel可能加重不适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产品要求：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自测问卷、禁忌提示、医生建议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关键提醒：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需张力监测+放松训练模式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520" y="2814320"/>
            <a:ext cx="4614545" cy="28213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92862"/>
            <a:ext cx="73152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lang="zh-CN" sz="2800">
                <a:ea typeface="微软雅黑" panose="020B0503020204020204" charset="-122"/>
              </a:rPr>
              <a:t>盆底肌修复产品</a:t>
            </a:r>
            <a:r>
              <a:rPr sz="2800">
                <a:ea typeface="微软雅黑" panose="020B0503020204020204" charset="-122"/>
              </a:rPr>
              <a:t>全球市场规模</a:t>
            </a:r>
            <a:endParaRPr sz="2800"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45720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202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年 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20-2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8亿美元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39360" y="1188720"/>
            <a:ext cx="62992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2034年 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45-70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亿美元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6C8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CAGR </a:t>
            </a:r>
            <a:r>
              <a:rPr lang="en-US">
                <a:ea typeface="微软雅黑" panose="020B0503020204020204" charset="-122"/>
              </a:rPr>
              <a:t>12-16</a:t>
            </a:r>
            <a:r>
              <a:rPr>
                <a:ea typeface="微软雅黑" panose="020B0503020204020204" charset="-122"/>
              </a:rPr>
              <a:t>%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1"/>
            </p:custDataLst>
          </p:nvPr>
        </p:nvSpPr>
        <p:spPr>
          <a:xfrm>
            <a:off x="548640" y="246888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2"/>
            </p:custDataLst>
          </p:nvPr>
        </p:nvSpPr>
        <p:spPr>
          <a:xfrm>
            <a:off x="548640" y="2468880"/>
            <a:ext cx="3474720" cy="54864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685800" y="2578608"/>
            <a:ext cx="3200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美国市场（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30-32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%）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4"/>
            </p:custDataLst>
          </p:nvPr>
        </p:nvSpPr>
        <p:spPr>
          <a:xfrm>
            <a:off x="658368" y="2926080"/>
            <a:ext cx="3255264" cy="75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规模：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6-9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 → 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15-25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亿美元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增速：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CAGR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13-17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FDA认证 + HSA/FSA医保支付驱动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5"/>
            </p:custDataLst>
          </p:nvPr>
        </p:nvSpPr>
        <p:spPr>
          <a:xfrm>
            <a:off x="4297679" y="246888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>
            <p:custDataLst>
              <p:tags r:id="rId6"/>
            </p:custDataLst>
          </p:nvPr>
        </p:nvSpPr>
        <p:spPr>
          <a:xfrm>
            <a:off x="4297679" y="2468880"/>
            <a:ext cx="347472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4434839" y="2578608"/>
            <a:ext cx="3200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欧洲市场（2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0-25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%）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4407407" y="2926080"/>
            <a:ext cx="3255264" cy="75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-7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 → 1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2-18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亿美元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增速：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CAGR 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11-14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CE认证 + 公共医疗体系覆盖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9"/>
            </p:custDataLst>
          </p:nvPr>
        </p:nvSpPr>
        <p:spPr>
          <a:xfrm>
            <a:off x="8046719" y="2468880"/>
            <a:ext cx="347472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10"/>
            </p:custDataLst>
          </p:nvPr>
        </p:nvSpPr>
        <p:spPr>
          <a:xfrm>
            <a:off x="8046719" y="2468880"/>
            <a:ext cx="347472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1"/>
            </p:custDataLst>
          </p:nvPr>
        </p:nvSpPr>
        <p:spPr>
          <a:xfrm>
            <a:off x="8183879" y="2578608"/>
            <a:ext cx="3200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中国市场（1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5-21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%）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2"/>
            </p:custDataLst>
          </p:nvPr>
        </p:nvSpPr>
        <p:spPr>
          <a:xfrm>
            <a:off x="8156447" y="2926080"/>
            <a:ext cx="3255264" cy="75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规模：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3-6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 → 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10-20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亿美元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增速：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CAGR 1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8-25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驱动：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产后修复意识觉醒 + 政策推动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4754880"/>
            <a:ext cx="100584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三大基本面：分娩（年1.4亿产妇）、老龄化/更年期（雌激素下降致肌萎缩）、肥胖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ea typeface="微软雅黑" panose="020B0503020204020204" charset="-122"/>
                <a:cs typeface="微软雅黑" panose="020B0503020204020204" charset="-122"/>
              </a:rPr>
              <a:t>尿失禁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（腹压加重负担）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两大加速器：女性健康意识觉醒（FemTech赛道融资热潮）+ 居家康复医疗化（后疫情FDA/DTC路径打通）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5669280"/>
            <a:ext cx="10515600" cy="45720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5669280"/>
            <a:ext cx="54864" cy="4572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" y="5760720"/>
            <a:ext cx="102412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中国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市场CAGR最高，三大市场各有增长引擎。基本面+加速器双轮驱动，市场确定性极强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275" y="301625"/>
            <a:ext cx="79546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  <a:sym typeface="+mn-ea"/>
              </a:rPr>
              <a:t>盆底肌修复产品亚马逊美国市场</a:t>
            </a:r>
            <a:endParaRPr sz="2800">
              <a:ea typeface="微软雅黑" panose="020B0503020204020204" charset="-122"/>
              <a:sym typeface="+mn-ea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1188720"/>
            <a:ext cx="3167380" cy="786130"/>
          </a:xfrm>
          <a:prstGeom prst="roundRect">
            <a:avLst/>
          </a:prstGeom>
          <a:solidFill>
            <a:srgbClr val="EF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1234440"/>
            <a:ext cx="3167380" cy="3924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26.3万件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1691640"/>
            <a:ext cx="3167380" cy="2749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6C6C8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2025年销量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72000" y="1188720"/>
            <a:ext cx="3167380" cy="786130"/>
          </a:xfrm>
          <a:prstGeom prst="roundRect">
            <a:avLst/>
          </a:prstGeom>
          <a:solidFill>
            <a:srgbClr val="EF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1234440"/>
            <a:ext cx="3167380" cy="3924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$1,562万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1691640"/>
            <a:ext cx="3167380" cy="2749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6C6C8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2025年销售额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1188720"/>
            <a:ext cx="3167380" cy="786130"/>
          </a:xfrm>
          <a:prstGeom prst="roundRect">
            <a:avLst/>
          </a:prstGeom>
          <a:solidFill>
            <a:srgbClr val="EF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0" y="1234440"/>
            <a:ext cx="3167380" cy="3924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8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+24%</a:t>
            </a:r>
            <a:endParaRPr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167380" cy="2749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100" b="0">
                <a:solidFill>
                  <a:srgbClr val="6C6C8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近1年同比增长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rcRect t="6288" r="1196"/>
          <a:stretch>
            <a:fillRect/>
          </a:stretch>
        </p:blipFill>
        <p:spPr>
          <a:xfrm>
            <a:off x="8366760" y="2477135"/>
            <a:ext cx="3301365" cy="3260090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>
            <a:clrChange>
              <a:clrFrom>
                <a:srgbClr val="FDFDFD">
                  <a:alpha val="100000"/>
                </a:srgbClr>
              </a:clrFrom>
              <a:clrTo>
                <a:srgbClr val="FDFD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2115" y="2477135"/>
            <a:ext cx="3872230" cy="3115945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rcRect l="5562" r="4570"/>
          <a:stretch>
            <a:fillRect/>
          </a:stretch>
        </p:blipFill>
        <p:spPr>
          <a:xfrm>
            <a:off x="4332605" y="2597150"/>
            <a:ext cx="3854450" cy="3119120"/>
          </a:xfrm>
          <a:prstGeom prst="rect">
            <a:avLst/>
          </a:prstGeom>
        </p:spPr>
      </p:pic>
      <p:sp>
        <p:nvSpPr>
          <p:cNvPr id="37" name="Rectangle 25"/>
          <p:cNvSpPr/>
          <p:nvPr/>
        </p:nvSpPr>
        <p:spPr>
          <a:xfrm>
            <a:off x="643890" y="6080760"/>
            <a:ext cx="10515600" cy="45720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26"/>
          <p:cNvSpPr/>
          <p:nvPr/>
        </p:nvSpPr>
        <p:spPr>
          <a:xfrm>
            <a:off x="643890" y="6080760"/>
            <a:ext cx="54864" cy="4572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27"/>
          <p:cNvSpPr txBox="1"/>
          <p:nvPr/>
        </p:nvSpPr>
        <p:spPr>
          <a:xfrm>
            <a:off x="826770" y="6172200"/>
            <a:ext cx="102412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生物反馈、按摩棒、电刺激三类占据市场前</a:t>
            </a:r>
            <a:r>
              <a:rPr lang="en-US" altLang="zh-CN"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ea typeface="微软雅黑" panose="020B0503020204020204" charset="-122"/>
                <a:cs typeface="微软雅黑" panose="020B0503020204020204" charset="-122"/>
              </a:rPr>
              <a:t>，生物反馈</a:t>
            </a:r>
            <a:r>
              <a:rPr lang="en-US" altLang="zh-CN"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>
                <a:ea typeface="微软雅黑" panose="020B0503020204020204" charset="-122"/>
                <a:cs typeface="微软雅黑" panose="020B0503020204020204" charset="-122"/>
              </a:rPr>
              <a:t>电刺激市场渗透率</a:t>
            </a:r>
            <a:r>
              <a:rPr lang="zh-CN" altLang="en-US">
                <a:ea typeface="微软雅黑" panose="020B0503020204020204" charset="-122"/>
                <a:cs typeface="微软雅黑" panose="020B0503020204020204" charset="-122"/>
              </a:rPr>
              <a:t>低。</a:t>
            </a:r>
            <a:endParaRPr lang="zh-CN" altLang="en-US"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144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品牌</a:t>
            </a:r>
            <a:r>
              <a:t>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A8A3"/>
                </a:solidFill>
                <a:latin typeface="微软雅黑" panose="020B0503020204020204" charset="-122"/>
              </a:defRPr>
            </a:pPr>
            <a:r>
              <a:t>品牌分类体系 · TOP10技术路线 · 五大品牌深度拆解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749039"/>
            <a:ext cx="2743200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98170" y="20574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全球盆底肌品牌分类体系</a:t>
            </a:r>
            <a:endParaRPr lang="en-US" sz="2800" b="1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609600" y="1384300"/>
            <a:ext cx="5080000" cy="2222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6197600" y="1384300"/>
            <a:ext cx="5080000" cy="2222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609600" y="3860800"/>
            <a:ext cx="5080000" cy="2222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6197600" y="3860800"/>
            <a:ext cx="5080000" cy="2222500"/>
          </a:xfrm>
          <a:prstGeom prst="roundRect">
            <a:avLst>
              <a:gd name="adj" fmla="val 0"/>
            </a:avLst>
          </a:prstGeom>
          <a:solidFill>
            <a:srgbClr val="F5F3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863600" y="16383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40A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01. 医疗器械型品牌 </a:t>
            </a:r>
            <a:endParaRPr lang="en-US" sz="1800" b="1" i="0" u="none" strike="noStrike">
              <a:solidFill>
                <a:srgbClr val="1E40A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863600" y="2209800"/>
            <a:ext cx="4572000" cy="7905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特点：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治疗疾病，</a:t>
            </a:r>
            <a:r>
              <a:rPr lang="zh-CN" altLang="en-US" sz="1400" b="1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强临床属性、强医生依赖、强合规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、非消费级体验</a:t>
            </a:r>
            <a:r>
              <a:rPr 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，主攻医院和诊所渠道。</a:t>
            </a:r>
            <a:endParaRPr lang="en-US" sz="14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产品类型：</a:t>
            </a:r>
            <a:r>
              <a:rPr lang="zh-CN" altLang="en-US" sz="1400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医院级盆底康复设备、多通道医疗级设备</a:t>
            </a:r>
            <a:endParaRPr lang="zh-CN" altLang="en-US" sz="1400" b="1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863600" y="30353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代表品牌：Laborie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, BTL, </a:t>
            </a:r>
            <a:r>
              <a:rPr lang="en-US" altLang="zh-CN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INNOVO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6451600" y="16383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580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03. 消费电子品牌</a:t>
            </a:r>
            <a:endParaRPr lang="en-US" sz="1800" b="1" i="0" u="none" strike="noStrike">
              <a:solidFill>
                <a:srgbClr val="1580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6451600" y="2182495"/>
            <a:ext cx="4572635" cy="7893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特点：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健康管理，</a:t>
            </a:r>
            <a:r>
              <a:rPr 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DTC模式，APP+硬件，面向年轻女性。</a:t>
            </a:r>
            <a:endParaRPr lang="en-US" sz="14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产品类型：</a:t>
            </a:r>
            <a:r>
              <a:rPr lang="zh-CN" altLang="en-US" sz="1400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蓝牙盆底训练器、</a:t>
            </a:r>
            <a:r>
              <a:rPr lang="en-US" altLang="zh-CN" sz="1400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</a:t>
            </a:r>
            <a:r>
              <a:rPr lang="zh-CN" altLang="en-US" sz="1400" b="1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游戏化设备</a:t>
            </a:r>
            <a:r>
              <a:rPr lang="zh-CN" altLang="en-US" sz="1400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、柔性硅胶探头、压力/形变传感器设备</a:t>
            </a:r>
            <a:endParaRPr lang="zh-CN" altLang="en-US" sz="1400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6451600" y="30353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代表品牌：</a:t>
            </a:r>
            <a:r>
              <a:rPr lang="en-US" sz="1300" b="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Elvie, Perifit, kGoal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863600" y="41148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02. </a:t>
            </a:r>
            <a:r>
              <a:rPr lang="zh-CN" altLang="en-US" sz="18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康复</a:t>
            </a:r>
            <a:r>
              <a:rPr lang="en-US" sz="1800" b="1" i="0" u="none" strike="noStrike">
                <a:solidFill>
                  <a:srgbClr val="C241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品牌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863600" y="459105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特点：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轻医疗属性、有一定反馈、介于医疗与消费之间，康复机构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渠道。</a:t>
            </a:r>
            <a:endParaRPr lang="zh-CN" altLang="en-US" sz="14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产品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类型：家用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EMG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探头、基础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EMS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设备、</a:t>
            </a:r>
            <a:r>
              <a:rPr lang="en-US" altLang="zh-CN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App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辅助训练系统、医疗+家庭混合方案</a:t>
            </a:r>
            <a:endParaRPr lang="zh-CN" altLang="en-US" sz="14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863600" y="54483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代表品牌：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leva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Hinge</a:t>
            </a:r>
            <a:r>
              <a:rPr lang="zh-CN" altLang="en-US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en-US" altLang="zh-CN" sz="1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</a:t>
            </a:r>
            <a:endParaRPr lang="en-US" altLang="zh-CN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6451600" y="41148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04. OTC</a:t>
            </a:r>
            <a:r>
              <a:rPr lang="zh-CN" altLang="en-US" sz="1800" b="1" i="0" u="none" strike="noStrike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非处方</a:t>
            </a:r>
            <a:r>
              <a:rPr lang="en-US" altLang="zh-CN" sz="1800" b="1" i="0" u="none" strike="noStrike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/</a:t>
            </a:r>
            <a:r>
              <a:rPr lang="zh-CN" altLang="en-US" sz="1800" b="1" i="0" u="none" strike="noStrike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消费</a:t>
            </a:r>
            <a:r>
              <a:rPr lang="zh-CN" altLang="en-US" sz="1800" b="1" i="0" u="none" strike="noStrike">
                <a:solidFill>
                  <a:srgbClr val="5B21B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健康品牌</a:t>
            </a:r>
            <a:endParaRPr lang="zh-CN" altLang="en-US" sz="1800" b="1" i="0" u="none" strike="noStrike">
              <a:solidFill>
                <a:srgbClr val="5B21B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6451600" y="46863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特点：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预防护理，日常</a:t>
            </a: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保养</a:t>
            </a:r>
            <a:endParaRPr lang="zh-CN" altLang="en-US" sz="1400" b="0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产品类型：</a:t>
            </a:r>
            <a:r>
              <a:rPr lang="zh-CN" altLang="en-US" sz="1400" b="1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非处方辅助药、阴道球（无电子）、入门级</a:t>
            </a:r>
            <a:r>
              <a:rPr lang="en-US" altLang="zh-CN" sz="1400" b="1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Kegel</a:t>
            </a:r>
            <a:r>
              <a:rPr lang="zh-CN" altLang="en-US" sz="1400" b="1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训练器</a:t>
            </a:r>
            <a:endParaRPr lang="zh-CN" altLang="en-US" sz="1400" b="1" i="0" u="none" strike="noStrike">
              <a:solidFill>
                <a:srgbClr val="4B556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6"/>
            </p:custDataLst>
          </p:nvPr>
        </p:nvSpPr>
        <p:spPr>
          <a:xfrm>
            <a:off x="6451600" y="54483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代表品牌：</a:t>
            </a:r>
            <a:r>
              <a:rPr lang="en-US" sz="1300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I</a:t>
            </a:r>
            <a:r>
              <a:rPr lang="en-US" altLang="zh-CN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ntimina</a:t>
            </a:r>
            <a:r>
              <a:rPr lang="zh-CN" altLang="en-US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LELO</a:t>
            </a:r>
            <a:r>
              <a:rPr lang="zh-CN" altLang="en-US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1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Je Joue</a:t>
            </a:r>
            <a:endParaRPr lang="en-US" altLang="zh-CN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9"/>
          <p:cNvSpPr/>
          <p:nvPr>
            <p:custDataLst>
              <p:tags r:id="rId17"/>
            </p:custDataLst>
          </p:nvPr>
        </p:nvSpPr>
        <p:spPr>
          <a:xfrm flipV="1">
            <a:off x="621030" y="3781425"/>
            <a:ext cx="5068570" cy="7620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13"/>
          <p:cNvSpPr/>
          <p:nvPr>
            <p:custDataLst>
              <p:tags r:id="rId18"/>
            </p:custDataLst>
          </p:nvPr>
        </p:nvSpPr>
        <p:spPr>
          <a:xfrm flipV="1">
            <a:off x="6197600" y="1289050"/>
            <a:ext cx="5068570" cy="76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17"/>
          <p:cNvSpPr/>
          <p:nvPr>
            <p:custDataLst>
              <p:tags r:id="rId19"/>
            </p:custDataLst>
          </p:nvPr>
        </p:nvSpPr>
        <p:spPr>
          <a:xfrm flipV="1">
            <a:off x="609600" y="1289050"/>
            <a:ext cx="5068570" cy="762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1"/>
          <p:cNvSpPr/>
          <p:nvPr>
            <p:custDataLst>
              <p:tags r:id="rId20"/>
            </p:custDataLst>
          </p:nvPr>
        </p:nvSpPr>
        <p:spPr>
          <a:xfrm flipV="1">
            <a:off x="6197600" y="3790950"/>
            <a:ext cx="5080000" cy="762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7"/>
          <p:cNvSpPr/>
          <p:nvPr/>
        </p:nvSpPr>
        <p:spPr>
          <a:xfrm>
            <a:off x="598170" y="103251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6283960"/>
            <a:ext cx="10729595" cy="45720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6"/>
          <p:cNvSpPr/>
          <p:nvPr/>
        </p:nvSpPr>
        <p:spPr>
          <a:xfrm>
            <a:off x="548640" y="6283960"/>
            <a:ext cx="54864" cy="4572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" y="6375400"/>
            <a:ext cx="102412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品牌沿「医疗←→消费」×「被动治疗←→主动训练」两轴分布。融合路线（</a:t>
            </a:r>
            <a:r>
              <a:rPr b="1">
                <a:ea typeface="微软雅黑" panose="020B0503020204020204" charset="-122"/>
                <a:cs typeface="微软雅黑" panose="020B0503020204020204" charset="-122"/>
              </a:rPr>
              <a:t>医疗级+消费体验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）是最大空白区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565467" y="1274348"/>
          <a:ext cx="11061065" cy="4999355"/>
        </p:xfrm>
        <a:graphic>
          <a:graphicData uri="http://schemas.openxmlformats.org/drawingml/2006/table">
            <a:tbl>
              <a:tblPr firstRow="1" bandRow="1">
                <a:tableStyleId>{DBF19F91-5FCB-4203-B6CE-8DD193DEE772}</a:tableStyleId>
              </a:tblPr>
              <a:tblGrid>
                <a:gridCol w="1625600"/>
                <a:gridCol w="1711960"/>
                <a:gridCol w="4785995"/>
                <a:gridCol w="2937510"/>
              </a:tblGrid>
              <a:tr h="38735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品牌</a:t>
                      </a:r>
                      <a:endParaRPr lang="zh-CN" altLang="en-US" sz="16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核心</a:t>
                      </a:r>
                      <a:endParaRPr lang="zh-CN" altLang="en-US" sz="16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特色</a:t>
                      </a:r>
                      <a:r>
                        <a:rPr lang="en-US" altLang="zh-CN" sz="160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60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专利技术</a:t>
                      </a:r>
                      <a:endParaRPr lang="zh-CN" altLang="en-US" sz="1600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60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概念</a:t>
                      </a:r>
                      <a:r>
                        <a:rPr lang="en-US" altLang="zh-CN" sz="160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/ </a:t>
                      </a:r>
                      <a:r>
                        <a:rPr lang="zh-CN" altLang="en-US" sz="160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研究方向</a:t>
                      </a:r>
                      <a:endParaRPr lang="zh-CN" altLang="en-US" sz="1600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35052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Laborie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TOP1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医院级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盆底康复系统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EMG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生物反馈 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压力反馈 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电刺激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，用于尿失禁、盆底功能障碍等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临床康复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医疗级诊疗闭环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电刺激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随访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53467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Elvie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智能凯格尔训练器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专利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力传感器 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运动传感器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，可检测收缩力度、方向，并提示错误用力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“医院生物反馈技术家庭化”；重点研究交互体验、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视觉反馈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35052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Perifit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游戏化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凯格尔训练器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盆底肌控制手机游戏，强化训练依从性；主打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生物反馈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游戏化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游戏化康复、用户留存、年轻化盆底训练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35115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Kegel8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电刺激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NMES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e-stim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自动激活弱盆底肌，同时帮助镇静膀胱神经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被动训练路线；适合不会主动收缩的用户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53467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TensCare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电刺激</a:t>
                      </a:r>
                      <a:r>
                        <a:rPr lang="zh-CN" altLang="en-US" sz="1000" b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NMES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通过阴道探头向盆底肌发送温和电刺激，帮助肌肉收缩训练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低门槛家用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EMS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设备；性价比和合规路径值得研究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53530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InControl Medical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电刺激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生物反馈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非植入式肌肉刺激器；可用于压力性、急迫性、混合型尿失禁；部分产品结合电刺激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压力生物反馈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家用医疗级路线；“疗效感”强于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Elvie/Perifit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35052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Leva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数字疗法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数字疗法路径，医生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处方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居家训练结合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研究“处方级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APP+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硬件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医保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医生推荐”模式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53467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Intimina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智能凯格尔训练器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可记录盆底肌力量、收缩时间、反应时间，并根据水平设置训练等级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入门级智能训练器；低价、轻量化、无复杂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53530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Pelviva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一次性棉条式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盆底训练器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NMES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一次性插入式设备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，通过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脉冲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刺激盆底肌；临床宣称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周改善膀胱控制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“耗材化盆底康复”；复购模型非常值得研究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  <a:tr h="53467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Attn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失禁护理产品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植物基、高吸收、订阅制女性失禁护理产品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  <a:tc>
                  <a:txBody>
                    <a:bodyPr/>
                    <a:p>
                      <a:pPr algn="l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从“治疗设备”延伸到“漏尿护理生态”和订阅制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82550" marB="82550" anchor="ctr" anchorCtr="0"/>
                </a:tc>
              </a:tr>
            </a:tbl>
          </a:graphicData>
        </a:graphic>
      </p:graphicFrame>
      <p:sp>
        <p:nvSpPr>
          <p:cNvPr id="4" name="AutoShape 2"/>
          <p:cNvSpPr/>
          <p:nvPr/>
        </p:nvSpPr>
        <p:spPr>
          <a:xfrm>
            <a:off x="720090" y="349250"/>
            <a:ext cx="10668000" cy="4851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全球</a:t>
            </a:r>
            <a:r>
              <a:rPr lang="en-US" altLang="zh-CN" sz="2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TOP10</a:t>
            </a:r>
            <a:r>
              <a:rPr lang="zh-CN" altLang="en-US" sz="2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品牌</a:t>
            </a:r>
            <a:endParaRPr lang="zh-CN" altLang="en-US" sz="2800" b="1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5150" y="964565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94715" y="1990090"/>
          <a:ext cx="10524490" cy="4753610"/>
        </p:xfrm>
        <a:graphic>
          <a:graphicData uri="http://schemas.openxmlformats.org/drawingml/2006/table">
            <a:tbl>
              <a:tblPr firstRow="1" bandRow="1">
                <a:tableStyleId>{5979E25E-8012-40AD-86DF-D6A0B639A2BF}</a:tableStyleId>
              </a:tblPr>
              <a:tblGrid>
                <a:gridCol w="1164590"/>
                <a:gridCol w="1267460"/>
                <a:gridCol w="1367790"/>
                <a:gridCol w="2261870"/>
                <a:gridCol w="2612390"/>
                <a:gridCol w="1850390"/>
              </a:tblGrid>
              <a:tr h="61150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图片</a:t>
                      </a:r>
                      <a:endParaRPr lang="zh-CN" altLang="en-US" sz="1400" spc="12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产品领域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代表产品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核心技术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技术原理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主要适应症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96774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尿动力学系统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Aquarius XT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Goby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NXT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多通道压力监测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同步测量膀胱压、腹压、尿道压、尿流率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尿失禁、</a:t>
                      </a:r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OAB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、排尿障碍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90614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盆底生物反馈治疗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Urostym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EMG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生物反馈 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电刺激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肌电信号采集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实时反馈</a:t>
                      </a:r>
                      <a:r>
                        <a:rPr lang="en-US" altLang="zh-CN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电刺激训练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产后康复、尿失禁、盆底功能障碍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77724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神经调控治疗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Urgent PC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PTNS</a:t>
                      </a:r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神经调控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经皮胫神经刺激影响骶神经反射弧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OAB</a:t>
                      </a:r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、急迫性尿失禁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77597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粪失禁治疗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Eclipse System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阴道支撑装置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机械支撑直肠与盆底结构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女性粪失禁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</a:tr>
              <a:tr h="71501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endParaRPr lang="zh-CN" altLang="en-US" sz="16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254000" marR="254000" marT="177800" marB="17780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超声产品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Portascan 3D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膀胱超声成像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超声波反射形成膀胱容积图像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残余尿测量</a:t>
                      </a:r>
                      <a:endParaRPr lang="zh-CN" altLang="en-US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5080" marR="5080" marT="5080" marB="0" anchor="ctr" anchorCtr="0"/>
                </a:tc>
              </a:tr>
            </a:tbl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" y="2599690"/>
            <a:ext cx="749300" cy="93218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rcRect l="5555" r="5555"/>
          <a:stretch>
            <a:fillRect/>
          </a:stretch>
        </p:blipFill>
        <p:spPr>
          <a:xfrm>
            <a:off x="1142365" y="3590925"/>
            <a:ext cx="744220" cy="83756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 l="5555" r="5555"/>
          <a:stretch>
            <a:fillRect/>
          </a:stretch>
        </p:blipFill>
        <p:spPr>
          <a:xfrm>
            <a:off x="1221740" y="4478655"/>
            <a:ext cx="664845" cy="74803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" y="6087110"/>
            <a:ext cx="962660" cy="5727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1880" y="5276850"/>
            <a:ext cx="824865" cy="698500"/>
          </a:xfrm>
          <a:prstGeom prst="rect">
            <a:avLst/>
          </a:prstGeom>
        </p:spPr>
      </p:pic>
      <p:sp>
        <p:nvSpPr>
          <p:cNvPr id="9" name="AutoShape 3"/>
          <p:cNvSpPr/>
          <p:nvPr/>
        </p:nvSpPr>
        <p:spPr>
          <a:xfrm>
            <a:off x="697865" y="89535"/>
            <a:ext cx="1037336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Laborie </a:t>
            </a:r>
            <a:r>
              <a:rPr lang="zh-CN" altLang="en-US" sz="2800" b="1" i="0" u="none" strike="noStrike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品牌介绍</a:t>
            </a:r>
            <a:endParaRPr lang="zh-CN" altLang="en-US" sz="2800" b="1" i="0" u="none" strike="noStrike">
              <a:solidFill>
                <a:srgbClr val="3747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8" name="AutoShape 4"/>
          <p:cNvSpPr/>
          <p:nvPr>
            <p:custDataLst>
              <p:tags r:id="rId7"/>
            </p:custDataLst>
          </p:nvPr>
        </p:nvSpPr>
        <p:spPr>
          <a:xfrm>
            <a:off x="698500" y="912495"/>
            <a:ext cx="2476500" cy="805815"/>
          </a:xfrm>
          <a:prstGeom prst="roundRect">
            <a:avLst>
              <a:gd name="adj" fmla="val 0"/>
            </a:avLst>
          </a:prstGeom>
          <a:solidFill>
            <a:srgbClr val="4DB6A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9" name="Picture 5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5500" y="1039495"/>
            <a:ext cx="247650" cy="247650"/>
          </a:xfrm>
          <a:prstGeom prst="rect">
            <a:avLst/>
          </a:prstGeom>
        </p:spPr>
      </p:pic>
      <p:sp>
        <p:nvSpPr>
          <p:cNvPr id="30" name="AutoShape 6"/>
          <p:cNvSpPr/>
          <p:nvPr>
            <p:custDataLst>
              <p:tags r:id="rId11"/>
            </p:custDataLst>
          </p:nvPr>
        </p:nvSpPr>
        <p:spPr>
          <a:xfrm>
            <a:off x="1143000" y="962660"/>
            <a:ext cx="1981200" cy="690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1967年创立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92000"/>
              </a:lnSpc>
            </a:pPr>
            <a:r>
              <a:rPr lang="en-US" sz="1000" b="0" i="0" u="none" strike="noStrike">
                <a:solidFill>
                  <a:srgbClr val="546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Ray Laborie创立，从尿动力学设备起家，奠定行业龙头地位。</a:t>
            </a:r>
            <a:endParaRPr lang="en-US" sz="1000" b="0" i="0" u="none" strike="noStrike">
              <a:solidFill>
                <a:srgbClr val="546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1" name="AutoShape 7"/>
          <p:cNvSpPr/>
          <p:nvPr>
            <p:custDataLst>
              <p:tags r:id="rId12"/>
            </p:custDataLst>
          </p:nvPr>
        </p:nvSpPr>
        <p:spPr>
          <a:xfrm>
            <a:off x="3429000" y="912495"/>
            <a:ext cx="2476500" cy="805815"/>
          </a:xfrm>
          <a:prstGeom prst="roundRect">
            <a:avLst>
              <a:gd name="adj" fmla="val 0"/>
            </a:avLst>
          </a:prstGeom>
          <a:solidFill>
            <a:srgbClr val="4DB6A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Picture 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56000" y="1039495"/>
            <a:ext cx="247650" cy="247650"/>
          </a:xfrm>
          <a:prstGeom prst="rect">
            <a:avLst/>
          </a:prstGeom>
        </p:spPr>
      </p:pic>
      <p:sp>
        <p:nvSpPr>
          <p:cNvPr id="33" name="AutoShape 9"/>
          <p:cNvSpPr/>
          <p:nvPr>
            <p:custDataLst>
              <p:tags r:id="rId16"/>
            </p:custDataLst>
          </p:nvPr>
        </p:nvSpPr>
        <p:spPr>
          <a:xfrm>
            <a:off x="3873500" y="941705"/>
            <a:ext cx="1981200" cy="690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业务覆盖110+国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lnSpc>
                <a:spcPct val="92000"/>
              </a:lnSpc>
            </a:pPr>
            <a:r>
              <a:rPr lang="en-US" sz="1000" b="0" i="0" u="none" strike="noStrike">
                <a:solidFill>
                  <a:srgbClr val="546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总部位于美国，构建全球泌尿与盆底健康医疗服务网络。</a:t>
            </a:r>
            <a:endParaRPr lang="en-US" sz="1000" b="0" i="0" u="none" strike="noStrike">
              <a:solidFill>
                <a:srgbClr val="546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34" name="AutoShape 10"/>
          <p:cNvSpPr/>
          <p:nvPr>
            <p:custDataLst>
              <p:tags r:id="rId17"/>
            </p:custDataLst>
          </p:nvPr>
        </p:nvSpPr>
        <p:spPr>
          <a:xfrm>
            <a:off x="6159500" y="912495"/>
            <a:ext cx="2476500" cy="805815"/>
          </a:xfrm>
          <a:prstGeom prst="roundRect">
            <a:avLst>
              <a:gd name="adj" fmla="val 0"/>
            </a:avLst>
          </a:prstGeom>
          <a:solidFill>
            <a:srgbClr val="4DB6A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" name="Picture 11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86500" y="1039495"/>
            <a:ext cx="247650" cy="247650"/>
          </a:xfrm>
          <a:prstGeom prst="rect">
            <a:avLst/>
          </a:prstGeom>
        </p:spPr>
      </p:pic>
      <p:sp>
        <p:nvSpPr>
          <p:cNvPr id="36" name="AutoShape 12"/>
          <p:cNvSpPr/>
          <p:nvPr>
            <p:custDataLst>
              <p:tags r:id="rId21"/>
            </p:custDataLst>
          </p:nvPr>
        </p:nvSpPr>
        <p:spPr>
          <a:xfrm>
            <a:off x="6604000" y="972820"/>
            <a:ext cx="1981200" cy="690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全生命周期生态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92000"/>
              </a:lnSpc>
            </a:pPr>
            <a:r>
              <a:rPr lang="en-US" sz="1000" b="0" i="0" u="none" strike="noStrike">
                <a:solidFill>
                  <a:srgbClr val="546E7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深耕多领域，提供从预防、诊断到治疗的完整方案。</a:t>
            </a:r>
            <a:endParaRPr lang="en-US" sz="1000" b="0" i="0" u="none" strike="noStrike">
              <a:solidFill>
                <a:srgbClr val="546E7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7" name="AutoShape 13"/>
          <p:cNvSpPr/>
          <p:nvPr>
            <p:custDataLst>
              <p:tags r:id="rId22"/>
            </p:custDataLst>
          </p:nvPr>
        </p:nvSpPr>
        <p:spPr>
          <a:xfrm>
            <a:off x="8890000" y="912495"/>
            <a:ext cx="2476500" cy="805815"/>
          </a:xfrm>
          <a:prstGeom prst="roundRect">
            <a:avLst>
              <a:gd name="adj" fmla="val 0"/>
            </a:avLst>
          </a:prstGeom>
          <a:solidFill>
            <a:srgbClr val="4DB6AC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Picture 14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017000" y="1039495"/>
            <a:ext cx="247650" cy="247650"/>
          </a:xfrm>
          <a:prstGeom prst="rect">
            <a:avLst/>
          </a:prstGeom>
        </p:spPr>
      </p:pic>
      <p:sp>
        <p:nvSpPr>
          <p:cNvPr id="39" name="AutoShape 15"/>
          <p:cNvSpPr/>
          <p:nvPr>
            <p:custDataLst>
              <p:tags r:id="rId26"/>
            </p:custDataLst>
          </p:nvPr>
        </p:nvSpPr>
        <p:spPr>
          <a:xfrm>
            <a:off x="9334500" y="941705"/>
            <a:ext cx="1981200" cy="690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7474F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三级用户体系</a:t>
            </a:r>
            <a:endParaRPr lang="en-US" sz="110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92000"/>
              </a:lnSpc>
            </a:pPr>
            <a:r>
              <a:rPr lang="zh-CN" altLang="en-US" sz="1000" b="0" i="0" u="none" strike="noStrike">
                <a:solidFill>
                  <a:srgbClr val="546E7A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完整诊疗闭环、医生壁垒极高、耗材模式、并购能力强</a:t>
            </a:r>
            <a:endParaRPr lang="zh-CN" altLang="en-US" sz="1000" b="0" i="0" u="none" strike="noStrike">
              <a:solidFill>
                <a:srgbClr val="546E7A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Rectangle 7"/>
          <p:cNvSpPr/>
          <p:nvPr/>
        </p:nvSpPr>
        <p:spPr>
          <a:xfrm>
            <a:off x="576580" y="82169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420" y="301625"/>
            <a:ext cx="79375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  <a:cs typeface="微软雅黑" panose="020B0503020204020204" charset="-122"/>
              </a:rPr>
              <a:t>Elvie</a:t>
            </a:r>
            <a:r>
              <a:rPr lang="zh-CN" sz="2800">
                <a:ea typeface="微软雅黑" panose="020B0503020204020204" charset="-122"/>
                <a:cs typeface="微软雅黑" panose="020B0503020204020204" charset="-122"/>
              </a:rPr>
              <a:t>品牌</a:t>
            </a:r>
            <a:r>
              <a:rPr lang="zh-CN" sz="2800"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sz="28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3250" y="1280160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3250" y="1280160"/>
            <a:ext cx="5029200" cy="54864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410" y="1389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产品演进时间线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2978" y="1737360"/>
            <a:ext cx="4809744" cy="9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2015 Trainer 1.0：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压力+IMU双传感器定义品类，Kickstarter爆款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 Trainer 2.0：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硬件完全冻结，纯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APP/算法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升级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 FemTech生态：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新增Elvie Pump，硬件无变化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2023-2026 AI+平台化：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轻量AI+产后课，进入衰减期—无EMG/无电刺激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98210" y="1280160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98210" y="1280160"/>
            <a:ext cx="50292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35370" y="1389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核心痛点 → 机会窗口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08065" y="1737360"/>
            <a:ext cx="4809490" cy="1062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蓝牙断连：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人体屏蔽信号 → 外置天线+离线缓存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医疗交互</a:t>
            </a: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只收缩无放松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EMG+EMS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结合技术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角度误判：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无法区分提拉/推挤 → 6轴IMU+多点压力融合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单一尺寸：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重症/产后不适用 → 模块化硅胶套适配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3250" y="3200400"/>
            <a:ext cx="10515600" cy="45720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3250" y="3200400"/>
            <a:ext cx="54864" cy="4572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130" y="3291840"/>
            <a:ext cx="102412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Elvie 2015年后硬件零升级，已进入生命周期衰减期（被Willow收购）。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延续其</a:t>
            </a:r>
            <a:r>
              <a:rPr b="1">
                <a:ea typeface="微软雅黑" panose="020B0503020204020204" charset="-122"/>
                <a:cs typeface="微软雅黑" panose="020B0503020204020204" charset="-122"/>
              </a:rPr>
              <a:t>轻奢美学</a:t>
            </a:r>
            <a:r>
              <a:rPr lang="zh-CN" b="1"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但用EMG+EMS闭环解决「</a:t>
            </a:r>
            <a:r>
              <a:rPr b="1">
                <a:ea typeface="微软雅黑" panose="020B0503020204020204" charset="-122"/>
                <a:cs typeface="微软雅黑" panose="020B0503020204020204" charset="-122"/>
              </a:rPr>
              <a:t>连接性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」与「</a:t>
            </a:r>
            <a:r>
              <a:rPr b="1">
                <a:ea typeface="微软雅黑" panose="020B0503020204020204" charset="-122"/>
                <a:cs typeface="微软雅黑" panose="020B0503020204020204" charset="-122"/>
              </a:rPr>
              <a:t>精准度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」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3250" y="3931920"/>
            <a:ext cx="105156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3250" y="3931920"/>
            <a:ext cx="10515600" cy="54864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0410" y="4041648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技术配置详情</a:t>
            </a:r>
            <a:endParaRPr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105" y="4389120"/>
            <a:ext cx="6837045" cy="17151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压力传感器 + IMU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惯性运动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传感器（加速度计+陀螺仪）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低功耗蓝牙</a:t>
            </a:r>
            <a:r>
              <a:rPr lang="zh-CN"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BLE 4.0通信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，外置蓝牙天线</a:t>
            </a:r>
            <a:endParaRPr sz="1100" b="1">
              <a:solidFill>
                <a:srgbClr val="14746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材质/尺寸：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医用级液态硅胶，IPX7防水，8×3.5×3.3cm，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可定制硅胶罩套帽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电池：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可充电锂电池，便携包无线充电，USB充电线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6种训练模式×4级别，游戏化训练界面，进度追踪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2022年总营收~1亿美元，盆底训练器占比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%（$2,896万），2025年被Willow整体收购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341360" y="4000500"/>
            <a:ext cx="2261235" cy="2110740"/>
          </a:xfrm>
          <a:prstGeom prst="rect">
            <a:avLst/>
          </a:prstGeom>
        </p:spPr>
      </p:pic>
      <p:pic>
        <p:nvPicPr>
          <p:cNvPr id="70" name="图片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130" y="4260850"/>
            <a:ext cx="95758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01625"/>
            <a:ext cx="79552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  <a:cs typeface="微软雅黑" panose="020B0503020204020204" charset="-122"/>
              </a:rPr>
              <a:t>Perifit</a:t>
            </a:r>
            <a:r>
              <a:rPr lang="zh-CN" sz="2800">
                <a:ea typeface="微软雅黑" panose="020B0503020204020204" charset="-122"/>
                <a:cs typeface="微软雅黑" panose="020B0503020204020204" charset="-122"/>
              </a:rPr>
              <a:t>品牌</a:t>
            </a:r>
            <a:endParaRPr lang="zh-CN" sz="28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264285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264285"/>
            <a:ext cx="5029200" cy="54864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137401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市场地位与打法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1664970"/>
            <a:ext cx="4809744" cy="1245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Amazon市占率32%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盆底肌品类绝对领跑，2026年$116.8万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核心策略：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游戏化训练解决70%用户「因枯燥放弃」的依从性痛点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20+互动游戏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+ 5维度评估 + 7个个性化训练模块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定位蜕变：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从游戏训练器→「评估+训练」一体化平台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FDA 510K：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:K221476 / K231780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0" y="1264285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0" y="1264285"/>
            <a:ext cx="502920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80760" y="137401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Care → Care+ 演进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53328" y="1721485"/>
            <a:ext cx="4809744" cy="9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Care ($149, 2018)：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双压力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FSR传感，刚性结构，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不可充电</a:t>
            </a:r>
            <a:endParaRPr sz="1100" b="1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Care+ ($179, 2023)：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柔性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硅胶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代偿识别增强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评估体系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健康报告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核心升级：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压力精度提升 → 代偿动作识别 → 分层评分系统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本质：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「压力传感+算法+APP」软件化升级，未进入医疗级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3184525"/>
            <a:ext cx="5029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184525"/>
            <a:ext cx="502920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5800" y="329425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核心痛点</a:t>
            </a:r>
            <a:endParaRPr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8495" y="3641725"/>
            <a:ext cx="4775835" cy="12712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altLang="en-US"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定位/校准困难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多次定位、校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准</a:t>
            </a:r>
            <a:endParaRPr lang="zh-CN" altLang="en-US" sz="1100" b="1">
              <a:solidFill>
                <a:srgbClr val="E76F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连接</a:t>
            </a: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不稳定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 数据断连体验差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电池不可充电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 5年寿命后整机报废</a:t>
            </a:r>
            <a:endParaRPr lang="zh-CN" altLang="en-US" sz="1100" b="1">
              <a:solidFill>
                <a:srgbClr val="E76F5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重力球易滑出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接缝积垢难清洁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忽视高张力人群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缺乏被动放松模式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43600" y="3184525"/>
            <a:ext cx="5029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43600" y="3184525"/>
            <a:ext cx="502920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80760" y="3294253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9D8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好评亮点与机会</a:t>
            </a:r>
            <a:endParaRPr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53328" y="3641725"/>
            <a:ext cx="480974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游戏化极大降低坚持门槛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年轻用户粘性极高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评估体系增加「医疗感」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用户愿意信任数据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FDA 510(k) K221476/K231780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合规壁垒已建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但压力传感器的技术天花板已到——无法直接测量肌肉激活度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3105" y="5760720"/>
            <a:ext cx="10515600" cy="45720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13105" y="5760720"/>
            <a:ext cx="54864" cy="4572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5985" y="58521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Perifit证明了游戏化+评估的价值，但纯压力传感的天花板明确。EMG替代/融合压力传感是打破瓶颈的钥匙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529570" y="3414078"/>
            <a:ext cx="1662430" cy="149161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1480" y="1362710"/>
            <a:ext cx="1402080" cy="15506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301625"/>
            <a:ext cx="81381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  <a:cs typeface="微软雅黑" panose="020B0503020204020204" charset="-122"/>
              </a:rPr>
              <a:t>电刺激阵营</a:t>
            </a:r>
            <a:r>
              <a:rPr lang="zh-CN" sz="2800">
                <a:ea typeface="微软雅黑" panose="020B0503020204020204" charset="-122"/>
                <a:cs typeface="微软雅黑" panose="020B0503020204020204" charset="-122"/>
              </a:rPr>
              <a:t>品牌</a:t>
            </a:r>
            <a:endParaRPr lang="zh-CN" sz="28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678815" y="1206500"/>
            <a:ext cx="3044825" cy="34664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678815" y="1206500"/>
            <a:ext cx="3044825" cy="92075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815975" y="1316355"/>
            <a:ext cx="2800350" cy="3867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K-fit — Amazon市占</a:t>
            </a: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top2</a:t>
            </a:r>
            <a:endParaRPr lang="en-US"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788670" y="1697355"/>
            <a:ext cx="2792730" cy="1649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b="1">
                <a:solidFill>
                  <a:srgbClr val="14746F"/>
                </a:solidFill>
                <a:ea typeface="微软雅黑" panose="020B0503020204020204" charset="-122"/>
                <a:cs typeface="微软雅黑" panose="020B0503020204020204" charset="-122"/>
              </a:rPr>
              <a:t>ETS（EMG触发NMES）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技术最先进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b="1">
                <a:solidFill>
                  <a:srgbClr val="14746F"/>
                </a:solidFill>
                <a:ea typeface="微软雅黑" panose="020B0503020204020204" charset="-122"/>
                <a:cs typeface="微软雅黑" panose="020B0503020204020204" charset="-122"/>
                <a:sym typeface="+mn-ea"/>
              </a:rPr>
              <a:t>99级</a:t>
            </a:r>
            <a:r>
              <a:rPr>
                <a:ea typeface="微软雅黑" panose="020B0503020204020204" charset="-122"/>
                <a:cs typeface="微软雅黑" panose="020B0503020204020204" charset="-122"/>
                <a:sym typeface="+mn-ea"/>
              </a:rPr>
              <a:t>强度</a:t>
            </a:r>
            <a:r>
              <a:rPr lang="en-US"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22训练+6游戏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b="1">
                <a:solidFill>
                  <a:srgbClr val="14746F"/>
                </a:solidFill>
                <a:ea typeface="微软雅黑" panose="020B0503020204020204" charset="-122"/>
                <a:cs typeface="微软雅黑" panose="020B0503020204020204" charset="-122"/>
              </a:rPr>
              <a:t>全彩LCD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去App化独立控制器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b="1">
                <a:solidFill>
                  <a:srgbClr val="14746F"/>
                </a:solidFill>
                <a:ea typeface="微软雅黑" panose="020B0503020204020204" charset="-122"/>
                <a:cs typeface="微软雅黑" panose="020B0503020204020204" charset="-122"/>
              </a:rPr>
              <a:t>1200mAh可充电</a:t>
            </a:r>
            <a:r>
              <a:rPr lang="zh-CN" altLang="en-US">
                <a:ea typeface="微软雅黑" panose="020B0503020204020204" charset="-122"/>
                <a:cs typeface="微软雅黑" panose="020B0503020204020204" charset="-122"/>
              </a:rPr>
              <a:t>锂电池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b="1">
                <a:solidFill>
                  <a:srgbClr val="14746F"/>
                </a:solidFill>
                <a:ea typeface="微软雅黑" panose="020B0503020204020204" charset="-122"/>
                <a:cs typeface="微软雅黑" panose="020B0503020204020204" charset="-122"/>
              </a:rPr>
              <a:t>痛点：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金属电极冰冷针刺感、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冗长线缆现在活动、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无数据追踪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、缺乏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设计感</a:t>
            </a:r>
            <a:endParaRPr lang="zh-CN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4418965" y="1206500"/>
            <a:ext cx="3044825" cy="34664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4418965" y="1206500"/>
            <a:ext cx="3044825" cy="92075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4556125" y="1316355"/>
            <a:ext cx="2729865" cy="4038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Kegel8 — 英国老牌</a:t>
            </a:r>
            <a:endParaRPr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4523740" y="1664970"/>
            <a:ext cx="2882900" cy="26911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E8A838"/>
                </a:solidFill>
                <a:ea typeface="微软雅黑" panose="020B0503020204020204" charset="-122"/>
                <a:cs typeface="微软雅黑" panose="020B0503020204020204" charset="-122"/>
              </a:rPr>
              <a:t>NMES+TENS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双模式，20+训练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专利</a:t>
            </a:r>
            <a:r>
              <a:rPr sz="1200" b="1">
                <a:solidFill>
                  <a:srgbClr val="E8A838"/>
                </a:solidFill>
                <a:ea typeface="微软雅黑" panose="020B0503020204020204" charset="-122"/>
                <a:cs typeface="微软雅黑" panose="020B0503020204020204" charset="-122"/>
              </a:rPr>
              <a:t>镀金电极+Smile</a:t>
            </a:r>
            <a:r>
              <a:rPr b="1"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LCD屏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无APP、医疗感重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E8A838"/>
                </a:solidFill>
                <a:ea typeface="微软雅黑" panose="020B0503020204020204" charset="-122"/>
                <a:cs typeface="微软雅黑" panose="020B0503020204020204" charset="-122"/>
              </a:rPr>
              <a:t>可搭配肛门探头使用</a:t>
            </a:r>
            <a:endParaRPr sz="1200" b="1">
              <a:solidFill>
                <a:srgbClr val="E8A838"/>
              </a:solidFill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痛点：刺痛感强、</a:t>
            </a:r>
            <a:r>
              <a:rPr lang="en-US">
                <a:ea typeface="微软雅黑" panose="020B0503020204020204" charset="-122"/>
                <a:cs typeface="微软雅黑" panose="020B0503020204020204" charset="-122"/>
              </a:rPr>
              <a:t>APP</a:t>
            </a:r>
            <a:r>
              <a:rPr lang="zh-CN" altLang="en-US">
                <a:ea typeface="微软雅黑" panose="020B0503020204020204" charset="-122"/>
                <a:cs typeface="微软雅黑" panose="020B0503020204020204" charset="-122"/>
              </a:rPr>
              <a:t>数据记录、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无学习反馈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8105775" y="1206500"/>
            <a:ext cx="3044825" cy="34664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8105775" y="1206500"/>
            <a:ext cx="3044825" cy="92075"/>
          </a:xfrm>
          <a:prstGeom prst="rect">
            <a:avLst/>
          </a:prstGeom>
          <a:solidFill>
            <a:srgbClr val="6C6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8242935" y="1316355"/>
            <a:ext cx="2950210" cy="3867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6C6C8A"/>
                </a:solidFill>
                <a:latin typeface="微软雅黑" panose="020B0503020204020204" charset="-122"/>
              </a:defRPr>
            </a:pPr>
            <a:r>
              <a:rPr sz="1600">
                <a:ea typeface="微软雅黑" panose="020B0503020204020204" charset="-122"/>
                <a:cs typeface="微软雅黑" panose="020B0503020204020204" charset="-122"/>
              </a:rPr>
              <a:t>iSTIM — Amazon</a:t>
            </a:r>
            <a:r>
              <a:rPr lang="zh-CN" sz="1600">
                <a:ea typeface="微软雅黑" panose="020B0503020204020204" charset="-122"/>
                <a:cs typeface="微软雅黑" panose="020B0503020204020204" charset="-122"/>
              </a:rPr>
              <a:t>市占</a:t>
            </a:r>
            <a:r>
              <a:rPr lang="en-US" sz="1600">
                <a:ea typeface="微软雅黑" panose="020B0503020204020204" charset="-122"/>
                <a:cs typeface="微软雅黑" panose="020B0503020204020204" charset="-122"/>
              </a:rPr>
              <a:t>top3</a:t>
            </a:r>
            <a:endParaRPr lang="en-US" sz="16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8215630" y="1718945"/>
            <a:ext cx="2789555" cy="27063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 sz="1200" b="1">
                <a:solidFill>
                  <a:srgbClr val="6C6C8A"/>
                </a:solidFill>
                <a:ea typeface="微软雅黑" panose="020B0503020204020204" charset="-122"/>
                <a:cs typeface="微软雅黑" panose="020B0503020204020204" charset="-122"/>
              </a:rPr>
              <a:t>单通道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纯NMES，5预设程序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LCD主机+金属腰夹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100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痛点：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设备易故障、疼痛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不适感、探头单侧刺激、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无定制化、无数据、无设计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08330" y="5050155"/>
            <a:ext cx="10515600" cy="45720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8330" y="5050155"/>
            <a:ext cx="54864" cy="45720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1210" y="5141595"/>
            <a:ext cx="1024128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三个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电刺激品牌共性短板：</a:t>
            </a:r>
            <a:r>
              <a:rPr lang="zh-CN">
                <a:ea typeface="微软雅黑" panose="020B0503020204020204" charset="-122"/>
                <a:cs typeface="微软雅黑" panose="020B0503020204020204" charset="-122"/>
              </a:rPr>
              <a:t>刺痛感强；</a:t>
            </a:r>
            <a:r>
              <a:rPr>
                <a:ea typeface="微软雅黑" panose="020B0503020204020204" charset="-122"/>
                <a:cs typeface="微软雅黑" panose="020B0503020204020204" charset="-122"/>
              </a:rPr>
              <a:t>缺少EMG闭环→用户无法感知进步；过于依赖手动调参→缺乏AI自适应。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330" y="5690235"/>
            <a:ext cx="10556875" cy="7994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K-fit的ETS系统值得关注：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当EMG检测到用户主动收缩达到阈值时，自动触发NMES辅助——这是最接近「EMG→EMS闭环」的家用方案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但独立控制器路径丢失了数据积累和远程医疗可能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——这是我们「App+BLE+云端AI」的差异化空间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92250" y="3347085"/>
            <a:ext cx="1191260" cy="122555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5414963" y="3159125"/>
            <a:ext cx="1200150" cy="119697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clrChange>
              <a:clrFrom>
                <a:srgbClr val="FCFDFD">
                  <a:alpha val="100000"/>
                </a:srgbClr>
              </a:clrFrom>
              <a:clrTo>
                <a:srgbClr val="FCFDFD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91905" y="3082925"/>
            <a:ext cx="1363980" cy="1321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6715" y="301625"/>
            <a:ext cx="81172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  <a:cs typeface="微软雅黑" panose="020B0503020204020204" charset="-122"/>
              </a:rPr>
              <a:t>澜渟(麦澜德)品牌</a:t>
            </a:r>
            <a:endParaRPr sz="28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580390" y="1097280"/>
            <a:ext cx="5120640" cy="22853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580390" y="1097280"/>
            <a:ext cx="5120640" cy="8001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717550" y="1207135"/>
            <a:ext cx="4846320" cy="347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品牌概览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690245" y="1554480"/>
            <a:ext cx="4900930" cy="18218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母公司：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南京麦澜德医疗科技股份有限公司 — A股上市盆底康复医疗设备企业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核心技术：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EMG肌电采集 + 压力传感 + EMS电刺激 + AI自适应算法 — 四维融合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NMPA认证：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苏械注准20262090138、20242090347等多张II类医疗器械注册证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市场地位：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天猫/京东盆底康复品类头部品牌，三系列覆盖¥299~¥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999全价格带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6066790" y="1097280"/>
            <a:ext cx="5120640" cy="22853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6066790" y="1097280"/>
            <a:ext cx="5120640" cy="8001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6203950" y="1207135"/>
            <a:ext cx="4846320" cy="3473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三系列产品矩阵</a:t>
            </a:r>
            <a:endParaRPr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6176645" y="1554480"/>
            <a:ext cx="5010150" cy="16891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Touch轻触系列 </a:t>
            </a:r>
            <a:r>
              <a:rPr lang="en-US" altLang="zh-CN"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¥3199-4489</a:t>
            </a: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EMG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评估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NMES电刺激 | 37.5°C恒温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加热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		    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|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UV杀菌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| 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盆底肌</a:t>
            </a:r>
            <a:r>
              <a:rPr lang="en-US" alt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腹直肌修复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Evolve进化系列 ¥</a:t>
            </a:r>
            <a:r>
              <a:rPr lang="en-US"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999-</a:t>
            </a:r>
            <a:r>
              <a:rPr lang="en-US"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</a:t>
            </a: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EMG评估+NMES治疗 |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有线探头</a:t>
            </a:r>
            <a:endParaRPr lang="zh-CN" altLang="en-US"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71600" lvl="3" indent="457200">
              <a:spcBef>
                <a:spcPts val="200"/>
              </a:spcBef>
              <a:spcAft>
                <a:spcPts val="400"/>
              </a:spcAft>
            </a:pP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| 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盆底肌</a:t>
            </a:r>
            <a:r>
              <a:rPr lang="en-US" alt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私密抗衰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耀雅旗舰系列 ¥</a:t>
            </a:r>
            <a:r>
              <a:rPr lang="en-US"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</a:t>
            </a: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99-</a:t>
            </a:r>
            <a:r>
              <a:rPr lang="en-US"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999：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零感自适应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探头 | EMG+压力双传感 |</a:t>
            </a:r>
            <a:r>
              <a:rPr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</a:t>
            </a:r>
            <a:r>
              <a:rPr lang="zh-CN"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</a:t>
            </a:r>
            <a:r>
              <a:rPr lang="en-US"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			   </a:t>
            </a:r>
            <a:r>
              <a:rPr lang="zh-CN" sz="1100" b="1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 | 全融合旗舰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| 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WTR三步科学训练法</a:t>
            </a: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371600" lvl="3" indent="457200">
              <a:spcBef>
                <a:spcPts val="200"/>
              </a:spcBef>
              <a:spcAft>
                <a:spcPts val="400"/>
              </a:spcAft>
            </a:pPr>
            <a:r>
              <a:rPr 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| 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养护+纤体塑形</a:t>
            </a:r>
            <a:endParaRPr lang="zh-CN" altLang="en-US"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Rounded Rectangle 17"/>
          <p:cNvSpPr/>
          <p:nvPr>
            <p:custDataLst>
              <p:tags r:id="rId9"/>
            </p:custDataLst>
          </p:nvPr>
        </p:nvSpPr>
        <p:spPr>
          <a:xfrm>
            <a:off x="6066790" y="3590290"/>
            <a:ext cx="5120640" cy="244284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>
            <p:custDataLst>
              <p:tags r:id="rId10"/>
            </p:custDataLst>
          </p:nvPr>
        </p:nvSpPr>
        <p:spPr>
          <a:xfrm>
            <a:off x="6066790" y="3590290"/>
            <a:ext cx="5120640" cy="762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6203950" y="3700145"/>
            <a:ext cx="4846320" cy="2952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澜渟核心竞争力拆解</a:t>
            </a:r>
            <a:endParaRPr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2"/>
            </p:custDataLst>
          </p:nvPr>
        </p:nvSpPr>
        <p:spPr>
          <a:xfrm>
            <a:off x="6176645" y="4047490"/>
            <a:ext cx="4900930" cy="19380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EMG肌电评估：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精准量化盆底肌激活度，区别于纯压力传感的表面检测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压力传感器：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发力路径/平衡/深浅全方位感知，代偿动作识别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EMS电刺激：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双相波+恒流控制，多通道独立输出，医疗级波形参数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AI自适应：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个体化EMG基线建模 → 动态调参 → 疗效追踪 → 方案优化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WTR三步训练法：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Warm-up热身 → Train训练 → Relax放松 — 科学康复闭环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80390" y="6208395"/>
            <a:ext cx="10515600" cy="32004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80390" y="6208395"/>
            <a:ext cx="54864" cy="32004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0245" y="6232525"/>
            <a:ext cx="102412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澜渟=国内唯一同时打通「EMG感知→压力传感→EMS执行→AI决策」四条技术路线的品牌，技术深度远超Elvie/Perifit的纯生物反馈路线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0390" y="4013200"/>
            <a:ext cx="5239385" cy="1407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74015" y="301625"/>
            <a:ext cx="812990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  <a:cs typeface="微软雅黑" panose="020B0503020204020204" charset="-122"/>
              </a:rPr>
              <a:t>澜渟技术纵深</a:t>
            </a:r>
            <a:endParaRPr sz="28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21435" y="1004570"/>
            <a:ext cx="4081145" cy="25476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21435" y="1004570"/>
            <a:ext cx="4081145" cy="76835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58595" y="1114425"/>
            <a:ext cx="3775710" cy="3422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App智能体验：AI驱动的数字疗法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31290" y="1461770"/>
            <a:ext cx="3836670" cy="1958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智能评估：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EMG基线检测 → AI生成个体化训练方案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实时反馈：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肌电波形可视化 → 发力对错即时判断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游戏化训练：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多场景互动游戏 → 降低放弃率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康复报告：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肌力/耐力/控制力/疲劳度多维度量化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远程医疗：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医生端数据接口 → 处方级康复方案管理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02655" y="935990"/>
            <a:ext cx="4433570" cy="261747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95670" y="999490"/>
            <a:ext cx="4416425" cy="78105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69025" y="1102995"/>
            <a:ext cx="4057650" cy="3409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vs 国际品牌关键差异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4735" y="1408430"/>
            <a:ext cx="4128770" cy="1950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Elvie：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有EMS→有治疗效果；有EMG→精准量化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Perifit：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有EMS→不依赖主动发力；有AI→自适应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K-fit：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有App+数据积累+远程医疗→长期壁垒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Kegel8：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有EMG闭环→不是盲刺激；消费电子美学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76F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iSTIM：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技术维度完全超越，定位不同市场层级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64860" y="3825240"/>
            <a:ext cx="4547235" cy="25266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864860" y="3767455"/>
            <a:ext cx="4660900" cy="76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02020" y="3927475"/>
            <a:ext cx="4411345" cy="29146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关键洞察 &amp; 启示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74715" y="4291965"/>
            <a:ext cx="4461510" cy="18567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澜渟验证了融合路线的可行性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EMG+EMS融合不是概念，是已在售产品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国内品牌的出海机会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NMPA已有基础→FDA/CE升级路径清晰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我们的差异化空间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澜渟偏「医疗器械思维」，我们的机会在「消费电子体验+医疗级效果」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需要补充的能力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澜渟无FDA→我们需要；澜渟偏重国内市场→我们需要全球化产品设计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无线化一体式探头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— 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消费级美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感</a:t>
            </a:r>
            <a:endParaRPr lang="zh-CN"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3" name="Rounded Rectangle 17"/>
          <p:cNvSpPr/>
          <p:nvPr>
            <p:custDataLst>
              <p:tags r:id="rId1"/>
            </p:custDataLst>
          </p:nvPr>
        </p:nvSpPr>
        <p:spPr>
          <a:xfrm>
            <a:off x="1351915" y="3738245"/>
            <a:ext cx="4065270" cy="259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ectangle 18"/>
          <p:cNvSpPr/>
          <p:nvPr>
            <p:custDataLst>
              <p:tags r:id="rId2"/>
            </p:custDataLst>
          </p:nvPr>
        </p:nvSpPr>
        <p:spPr>
          <a:xfrm>
            <a:off x="1351915" y="3738245"/>
            <a:ext cx="4065270" cy="86995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19"/>
          <p:cNvSpPr txBox="1"/>
          <p:nvPr>
            <p:custDataLst>
              <p:tags r:id="rId3"/>
            </p:custDataLst>
          </p:nvPr>
        </p:nvSpPr>
        <p:spPr>
          <a:xfrm>
            <a:off x="1495425" y="3848100"/>
            <a:ext cx="3846195" cy="3130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 lang="zh-CN">
                <a:ea typeface="微软雅黑" panose="020B0503020204020204" charset="-122"/>
              </a:rPr>
              <a:t>产品</a:t>
            </a:r>
            <a:r>
              <a:rPr lang="zh-CN">
                <a:ea typeface="微软雅黑" panose="020B0503020204020204" charset="-122"/>
              </a:rPr>
              <a:t>痛点</a:t>
            </a:r>
            <a:endParaRPr lang="zh-CN">
              <a:ea typeface="微软雅黑" panose="020B0503020204020204" charset="-122"/>
            </a:endParaRPr>
          </a:p>
        </p:txBody>
      </p:sp>
      <p:sp>
        <p:nvSpPr>
          <p:cNvPr id="26" name="TextBox 20"/>
          <p:cNvSpPr txBox="1"/>
          <p:nvPr>
            <p:custDataLst>
              <p:tags r:id="rId4"/>
            </p:custDataLst>
          </p:nvPr>
        </p:nvSpPr>
        <p:spPr>
          <a:xfrm>
            <a:off x="1466850" y="4195445"/>
            <a:ext cx="3890645" cy="20593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冰冷刺痛感</a:t>
            </a: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冰冷刺痛感</a:t>
            </a:r>
            <a:endParaRPr lang="zh-CN" altLang="en-US"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稳定性差：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传感器结果易收姿态影响而不稳定</a:t>
            </a:r>
            <a:endParaRPr lang="zh-CN" altLang="en-US"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适配性差：</a:t>
            </a:r>
            <a:r>
              <a:rPr lang="zh-CN" altLang="en-US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"均码"设计导致部分用户体感不适</a:t>
            </a:r>
            <a:endParaRPr lang="zh-CN" altLang="en-US"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线缆限制</a:t>
            </a: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线缆限制活动，很不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方便</a:t>
            </a:r>
            <a:endParaRPr lang="zh-CN"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zh-CN"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数据焦虑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过分强调分数，让训练变成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压力</a:t>
            </a:r>
            <a:endParaRPr lang="zh-CN"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lang="en-US" altLang="zh-CN"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APP</a:t>
            </a:r>
            <a:r>
              <a:rPr lang="zh-CN" altLang="en-US"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无法后台运行</a:t>
            </a: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训练时无法缩小界面同时运行</a:t>
            </a:r>
            <a:endParaRPr lang="zh-CN"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endParaRPr lang="zh-CN"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产品技术分析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1440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A8A3"/>
                </a:solidFill>
                <a:latin typeface="微软雅黑" panose="020B0503020204020204" charset="-122"/>
              </a:defRPr>
            </a:pPr>
            <a:r>
              <a:t>KANO模型 · </a:t>
            </a:r>
            <a:r>
              <a:rPr lang="zh-CN"/>
              <a:t>核心痛点</a:t>
            </a:r>
            <a:r>
              <a:t> · 核心要素 · </a:t>
            </a:r>
            <a:r>
              <a:rPr lang="zh-CN"/>
              <a:t>技术</a:t>
            </a:r>
            <a:r>
              <a:rPr lang="zh-CN"/>
              <a:t>路径</a:t>
            </a:r>
            <a:endParaRPr lang="zh-CN"/>
          </a:p>
        </p:txBody>
      </p:sp>
      <p:sp>
        <p:nvSpPr>
          <p:cNvPr id="6" name="Rectangle 5"/>
          <p:cNvSpPr/>
          <p:nvPr/>
        </p:nvSpPr>
        <p:spPr>
          <a:xfrm>
            <a:off x="1097280" y="3749039"/>
            <a:ext cx="2743200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770" y="1980565"/>
            <a:ext cx="5334000" cy="4064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6764020" y="1743075"/>
            <a:ext cx="4575175" cy="45485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A1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基本需求 </a:t>
            </a:r>
            <a:endParaRPr lang="en-US" sz="1200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安全无风险、使用舒适、容易清洁、</a:t>
            </a:r>
            <a:r>
              <a:rPr lang="zh-CN" alt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信号</a:t>
            </a:r>
            <a:r>
              <a:rPr 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</a:t>
            </a:r>
            <a:r>
              <a:rPr lang="en-US" altLang="zh-CN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基础刺激</a:t>
            </a:r>
            <a:r>
              <a:rPr 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/>
          </a:p>
          <a:p>
            <a:pPr indent="0" algn="l">
              <a:lnSpc>
                <a:spcPct val="125000"/>
              </a:lnSpc>
            </a:pPr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6A369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期望需求 </a:t>
            </a:r>
            <a:endParaRPr lang="en-US" sz="1500" b="1" i="0" u="none" strike="noStrike">
              <a:solidFill>
                <a:srgbClr val="6A369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2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</a:t>
            </a:r>
            <a:r>
              <a:rPr 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漏尿改善、产后恢复、肌力提升、训练效果可验证</a:t>
            </a:r>
            <a:r>
              <a:rPr lang="zh-CN" alt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altLang="zh-CN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</a:t>
            </a:r>
            <a:r>
              <a:rPr lang="zh-CN" alt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体验好、准确识别肌肉</a:t>
            </a:r>
            <a:r>
              <a:rPr lang="en-US" altLang="zh-CN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是否舒适有效</a:t>
            </a:r>
            <a:r>
              <a:rPr lang="en-US" sz="14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400"/>
          </a:p>
          <a:p>
            <a:pPr indent="0" algn="l">
              <a:lnSpc>
                <a:spcPct val="125000"/>
              </a:lnSpc>
            </a:pPr>
            <a:endParaRPr lang="en-US" sz="1500" b="1" i="0" u="none" strike="noStrike">
              <a:solidFill>
                <a:srgbClr val="9C86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9C86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魅力需求</a:t>
            </a:r>
            <a:endParaRPr lang="en-US" sz="1500" b="1" i="0" u="none" strike="noStrike">
              <a:solidFill>
                <a:srgbClr val="9C86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25000"/>
              </a:lnSpc>
            </a:pPr>
            <a:r>
              <a:rPr 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AI评估/</a:t>
            </a:r>
            <a:r>
              <a:rPr lang="zh-CN" alt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纠错</a:t>
            </a:r>
            <a:r>
              <a:rPr 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自适应强度/即时反馈、</a:t>
            </a:r>
            <a:r>
              <a:rPr 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智能训练计划、游戏化训练、康复报告、医生远程指导。</a:t>
            </a:r>
            <a:endParaRPr lang="en-US" sz="1200"/>
          </a:p>
          <a:p>
            <a:pPr marL="127000" indent="0" algn="l">
              <a:lnSpc>
                <a:spcPct val="125000"/>
              </a:lnSpc>
            </a:pP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1">
                <a:solidFill>
                  <a:srgbClr val="D1C4E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无差异型 </a:t>
            </a:r>
            <a:endParaRPr lang="en-US" sz="1200" b="1">
              <a:solidFill>
                <a:srgbClr val="D1C4E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蓝牙版本、MCU型号、传感器供应商、电池容量细微差异。</a:t>
            </a:r>
            <a:endParaRPr lang="en-US" sz="1200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endParaRPr lang="en-US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1">
                <a:solidFill>
                  <a:srgbClr val="E9E0F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反向型 </a:t>
            </a:r>
            <a:endParaRPr lang="en-US" sz="1200" b="1">
              <a:solidFill>
                <a:srgbClr val="E9E0F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altLang="zh-CN" sz="12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en-US" sz="12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操作复杂、学习成本高、插入不舒服、电流刺激过强、医疗感过重。</a:t>
            </a:r>
            <a:endParaRPr lang="en-US" sz="1200"/>
          </a:p>
          <a:p>
            <a:pPr marL="0" indent="0" algn="l">
              <a:lnSpc>
                <a:spcPct val="125000"/>
              </a:lnSpc>
            </a:pPr>
            <a:endParaRPr lang="en-US" altLang="zh-CN" sz="12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275" y="301625"/>
            <a:ext cx="79546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  <a:cs typeface="微软雅黑" panose="020B0503020204020204" charset="-122"/>
              </a:rPr>
              <a:t>盆底肌训练器 KANO 需求模型</a:t>
            </a:r>
            <a:endParaRPr sz="2800"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9275" y="89154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275" y="301625"/>
            <a:ext cx="79546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</a:rPr>
              <a:t>生物反馈类产品核心痛点</a:t>
            </a:r>
            <a:endParaRPr sz="2800"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9275" y="936625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16" descr="ChatGPT Image 2026年6月30日 12_14_18"/>
          <p:cNvPicPr>
            <a:picLocks noChangeAspect="1"/>
          </p:cNvPicPr>
          <p:nvPr/>
        </p:nvPicPr>
        <p:blipFill>
          <a:blip r:embed="rId1"/>
          <a:srcRect t="12417" r="-645" b="7935"/>
          <a:stretch>
            <a:fillRect/>
          </a:stretch>
        </p:blipFill>
        <p:spPr>
          <a:xfrm>
            <a:off x="1938655" y="1033145"/>
            <a:ext cx="8011160" cy="56622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9595" y="301625"/>
            <a:ext cx="793432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</a:rPr>
              <a:t>电刺激类产品核心痛点</a:t>
            </a:r>
            <a:endParaRPr sz="2800"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9595" y="936625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3945" y="1062355"/>
            <a:ext cx="7319645" cy="55803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6096622" y="960120"/>
            <a:ext cx="20000" cy="5074920"/>
          </a:xfrm>
          <a:prstGeom prst="rect">
            <a:avLst/>
          </a:prstGeom>
          <a:solidFill>
            <a:srgbClr val="E4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6395" y="960120"/>
            <a:ext cx="5459730" cy="52705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6395" y="1157605"/>
            <a:ext cx="3157855" cy="202565"/>
          </a:xfrm>
          <a:prstGeom prst="rect">
            <a:avLst/>
          </a:prstGeom>
          <a:noFill/>
        </p:spPr>
        <p:txBody>
          <a:bodyPr wrap="none" lIns="228600" tIns="0" rIns="13716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🟡 一、生物反馈类  </a:t>
            </a:r>
            <a:r>
              <a:rPr sz="1100">
                <a:solidFill>
                  <a:srgbClr val="B6E3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 / 压力感知</a:t>
            </a:r>
            <a:endParaRPr sz="1100">
              <a:solidFill>
                <a:srgbClr val="B6E3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6078" y="1590040"/>
            <a:ext cx="5532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6078" y="1590040"/>
            <a:ext cx="73152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30669" y="1708912"/>
            <a:ext cx="320040" cy="3200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3006" y="1681480"/>
            <a:ext cx="1679575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感知系统  Sensing</a:t>
            </a:r>
            <a:endParaRPr sz="1300" b="1">
              <a:solidFill>
                <a:srgbClr val="0A4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8711" y="1918970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 肌电采集（核心）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压力 / 形变传感器（辅助）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生物电信号采集与滤波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6078" y="2477008"/>
            <a:ext cx="5532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6078" y="2477008"/>
            <a:ext cx="73152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30669" y="2595880"/>
            <a:ext cx="320040" cy="3200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3006" y="2568448"/>
            <a:ext cx="2009775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评估系统  Assessment</a:t>
            </a:r>
            <a:endParaRPr sz="1300" b="1">
              <a:solidFill>
                <a:srgbClr val="0A4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8711" y="2805938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肌肉激活度计算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收缩强度分析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疲劳指数评估 / 动作正确性判断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6078" y="3363976"/>
            <a:ext cx="5532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6078" y="3363976"/>
            <a:ext cx="73152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30669" y="3482848"/>
            <a:ext cx="320040" cy="3200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3006" y="3455416"/>
            <a:ext cx="1811020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反馈系统  Feedback</a:t>
            </a:r>
            <a:endParaRPr sz="1300" b="1">
              <a:solidFill>
                <a:srgbClr val="0A4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8711" y="3692271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实时曲线（EMG 波形）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数值评分（肌力等级）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动作纠正提示 / 训练报告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6078" y="4250944"/>
            <a:ext cx="5532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6078" y="4250944"/>
            <a:ext cx="73152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30669" y="4369816"/>
            <a:ext cx="320040" cy="3200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3006" y="4342384"/>
            <a:ext cx="2198370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训练系统  Training Logic</a:t>
            </a:r>
            <a:endParaRPr sz="1300" b="1">
              <a:solidFill>
                <a:srgbClr val="0A4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8711" y="4579874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凯格尔主动训练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分级训练计划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疲劳自适应调整（非实时控制）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6078" y="5137912"/>
            <a:ext cx="5532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6078" y="5137912"/>
            <a:ext cx="73152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530669" y="5256784"/>
            <a:ext cx="320040" cy="3200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33006" y="5229352"/>
            <a:ext cx="1375410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软件系统  App</a:t>
            </a:r>
            <a:endParaRPr sz="1300" b="1">
              <a:solidFill>
                <a:srgbClr val="0A4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58711" y="5466842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可视化训练界面 / 游戏化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进度记录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私教式课程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291580" y="960120"/>
            <a:ext cx="5459730" cy="52705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91580" y="1157605"/>
            <a:ext cx="3158490" cy="202565"/>
          </a:xfrm>
          <a:prstGeom prst="rect">
            <a:avLst/>
          </a:prstGeom>
          <a:noFill/>
        </p:spPr>
        <p:txBody>
          <a:bodyPr wrap="none" lIns="228600" tIns="0" rIns="13716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🔴 二、电刺激类  </a:t>
            </a:r>
            <a:r>
              <a:rPr sz="1100">
                <a:solidFill>
                  <a:srgbClr val="F5CB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EMS / NMES / ETS</a:t>
            </a:r>
            <a:endParaRPr sz="1100">
              <a:solidFill>
                <a:srgbClr val="F5CB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291390" y="1590040"/>
            <a:ext cx="5532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291390" y="1590040"/>
            <a:ext cx="73152" cy="8412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455982" y="1708912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318" y="1681480"/>
            <a:ext cx="2599690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8E2A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刺激系统  Stimulation Engine</a:t>
            </a:r>
            <a:endParaRPr sz="1300" b="1">
              <a:solidFill>
                <a:srgbClr val="8E2A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8318" y="1918970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EMS / NMES 电刺激输出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双相波 Biphasic Wave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恒流控制 / 多通道独立输出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291390" y="2477008"/>
            <a:ext cx="5532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91390" y="2477008"/>
            <a:ext cx="73152" cy="8412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6455982" y="2595880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58318" y="2568448"/>
            <a:ext cx="2537460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8E2A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波形系统  Waveform System</a:t>
            </a:r>
            <a:endParaRPr sz="1300" b="1">
              <a:solidFill>
                <a:srgbClr val="8E2A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858318" y="2851658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 Hz / 脉宽 μs / 强度 mA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Ramp / Burst / Cycle 模式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ETS 动态波形（进阶）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291390" y="3363976"/>
            <a:ext cx="5532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6291390" y="3363976"/>
            <a:ext cx="73152" cy="8412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6455982" y="3482848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858318" y="3455416"/>
            <a:ext cx="2482850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8E2A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感知反馈  Limited Feedback</a:t>
            </a:r>
            <a:endParaRPr sz="1300" b="1">
              <a:solidFill>
                <a:srgbClr val="8E2A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58318" y="3692271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 反馈（部分型号）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刺激响应监测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疲劳保护机制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6291390" y="4250944"/>
            <a:ext cx="5532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291390" y="4250944"/>
            <a:ext cx="73152" cy="8412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6455982" y="4369816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858318" y="4342384"/>
            <a:ext cx="2143760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8E2A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控制系统  Control Logic</a:t>
            </a:r>
            <a:endParaRPr sz="1300" b="1">
              <a:solidFill>
                <a:srgbClr val="8E2A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858318" y="4579874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MCU 控制（STM32 / ESP32）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预设程序 Program Mode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安全保护（过流 / 短路）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291390" y="5137912"/>
            <a:ext cx="553212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6291390" y="5137912"/>
            <a:ext cx="73152" cy="8412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6455982" y="5256784"/>
            <a:ext cx="320040" cy="32004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858318" y="5229352"/>
            <a:ext cx="1772920" cy="2000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8E2A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人体接口  Interface</a:t>
            </a:r>
            <a:endParaRPr sz="1300" b="1">
              <a:solidFill>
                <a:srgbClr val="8E2A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858318" y="5466842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LSR 医疗硅胶探头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导电电极结构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sz="1000">
                <a:solidFill>
                  <a:srgbClr val="333A4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阴道插入式结构 / 生物兼容材料</a:t>
            </a:r>
            <a:endParaRPr sz="1000">
              <a:solidFill>
                <a:srgbClr val="333A4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66395" y="6419850"/>
            <a:ext cx="5433060" cy="292100"/>
          </a:xfrm>
          <a:prstGeom prst="roundRect">
            <a:avLst>
              <a:gd name="adj" fmla="val 25000"/>
            </a:avLst>
          </a:prstGeom>
          <a:solidFill>
            <a:srgbClr val="E0F2EF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66395" y="6520180"/>
            <a:ext cx="3617595" cy="95250"/>
          </a:xfrm>
          <a:prstGeom prst="rect">
            <a:avLst/>
          </a:prstGeom>
          <a:noFill/>
        </p:spPr>
        <p:txBody>
          <a:bodyPr wrap="none" lIns="228600" tIns="0" rIns="182880" bIns="0" anchor="ctr">
            <a:noAutofit/>
          </a:bodyPr>
          <a:lstStyle/>
          <a:p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本质  </a:t>
            </a:r>
            <a:r>
              <a:rPr sz="12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「让用户学会正确使用盆底肌的训练系统」</a:t>
            </a:r>
            <a:endParaRPr sz="1200" b="1">
              <a:solidFill>
                <a:srgbClr val="0A4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291580" y="6419850"/>
            <a:ext cx="5433060" cy="292100"/>
          </a:xfrm>
          <a:prstGeom prst="roundRect">
            <a:avLst>
              <a:gd name="adj" fmla="val 25000"/>
            </a:avLst>
          </a:prstGeom>
          <a:solidFill>
            <a:srgbClr val="FDE8E5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364605" y="6520180"/>
            <a:ext cx="3917950" cy="95250"/>
          </a:xfrm>
          <a:prstGeom prst="rect">
            <a:avLst/>
          </a:prstGeom>
          <a:noFill/>
        </p:spPr>
        <p:txBody>
          <a:bodyPr wrap="none" lIns="228600" tIns="0" rIns="182880" bIns="0" anchor="ctr">
            <a:noAutofit/>
          </a:bodyPr>
          <a:lstStyle/>
          <a:p>
            <a:r>
              <a:rPr sz="110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本质  </a:t>
            </a:r>
            <a:r>
              <a:rPr sz="1200" b="1">
                <a:solidFill>
                  <a:srgbClr val="8E2A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「通过电刺激直接激活肌肉的治疗型设备系统」</a:t>
            </a:r>
            <a:endParaRPr sz="1200" b="1">
              <a:solidFill>
                <a:srgbClr val="8E2A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ectangle 1"/>
          <p:cNvSpPr/>
          <p:nvPr/>
        </p:nvSpPr>
        <p:spPr>
          <a:xfrm>
            <a:off x="0" y="-2286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366395" y="74168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itle"/>
          <p:cNvSpPr>
            <a:spLocks noGrp="1"/>
          </p:cNvSpPr>
          <p:nvPr/>
        </p:nvSpPr>
        <p:spPr>
          <a:xfrm>
            <a:off x="476250" y="227330"/>
            <a:ext cx="99409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F172A"/>
                </a:solidFill>
              </a:rPr>
              <a:t>盆底肌训练器核心要素</a:t>
            </a:r>
            <a:endParaRPr sz="2800" b="1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65467" y="1231803"/>
          <a:ext cx="11061065" cy="5233035"/>
        </p:xfrm>
        <a:graphic>
          <a:graphicData uri="http://schemas.openxmlformats.org/drawingml/2006/table">
            <a:tbl>
              <a:tblPr firstRow="1" firstCol="1">
                <a:tableStyleId>{19342E3B-280C-435C-ACC9-8C94A79E51A0}</a:tableStyleId>
              </a:tblPr>
              <a:tblGrid>
                <a:gridCol w="1261745"/>
                <a:gridCol w="4119245"/>
                <a:gridCol w="2936875"/>
                <a:gridCol w="2743200"/>
              </a:tblGrid>
              <a:tr h="33718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维度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生物反馈（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Biofeedback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电刺激（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EMS / NMES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生物反馈 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电刺激融合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  <a:tr h="48577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技术本质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通过传感器（压力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/IMU/EMG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）检测肌肉收缩，提供视觉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听觉反馈，“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教用户正确发力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”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通过电流直接刺激运动神经，“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代替大脑让肌肉被动收缩”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感知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决策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执行闭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环，“边测边练，动态调节”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  <a:tr h="48577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工作原理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肌肉收缩 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传感器检测 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信号处理 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App/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游戏反馈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电流 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神经去极化 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肌肉收缩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EMG/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压力检测 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状态识别 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EMS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刺激调节 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实时反馈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  <a:tr h="55880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核心硬件</a:t>
                      </a:r>
                      <a:r>
                        <a:rPr lang="en-US" altLang="zh-CN" sz="120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技术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压力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/IMU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运动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/EMG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肌电传感器、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BLE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通信、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算法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MCU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控制板、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DAC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波形生成器、恒流驱动电路、阴道电极、固定波形程序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EMG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传感器、压力传感器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MCU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EST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治疗算法、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NMES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电刺激、多波形控制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  <a:tr h="48577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作用机制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主动训练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，改善神经肌肉控制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被动训练，提升肌纤维募集能力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主动</a:t>
                      </a:r>
                      <a:r>
                        <a:rPr lang="en-US" altLang="zh-CN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被动结合、动态调整强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度、更接近真实康复路径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  <a:tr h="48577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优点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用户体验好、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训练可视化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、低医疗门槛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疗效明确、不依赖用户主动发力、医疗效果明确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兼具训练与治疗效果、可动态调整强度、康复路径最完整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  <a:tr h="48577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局限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无法直接增强肌力、依赖用户配合、对重度患者</a:t>
                      </a: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效果有限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用户体验差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（刺激感）、无学习反馈、易产生设备依赖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成本高、算法复杂、医疗监管严格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  <a:tr h="33718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典型代表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Elvie Trainer, Perifit Care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Kegel8, iSTIM</a:t>
                      </a:r>
                      <a:endParaRPr lang="en-US" altLang="zh-CN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医院盆底康复系统、澜渟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大悦高端设备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  <a:tr h="33718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技术复杂度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低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中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  <a:tr h="33782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医疗效果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中（间接改善）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高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最高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  <a:tr h="337185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用户体验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好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一般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中等（但提升潜力大）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  <a:tr h="558800"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当前市场状态</a:t>
                      </a:r>
                      <a:endParaRPr lang="zh-CN" altLang="en-US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消费级成熟产品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医疗</a:t>
                      </a:r>
                      <a:r>
                        <a:rPr lang="en-US" altLang="zh-CN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消费级并存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市场几乎空白，是最大机会点</a:t>
                      </a:r>
                      <a:endParaRPr lang="zh-CN" altLang="en-US" sz="1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57150" marB="57150" anchor="ctr" anchorCtr="0"/>
                </a:tc>
              </a:tr>
            </a:tbl>
          </a:graphicData>
        </a:graphic>
      </p:graphicFrame>
      <p:sp>
        <p:nvSpPr>
          <p:cNvPr id="3" name="AutoShape 2"/>
          <p:cNvSpPr/>
          <p:nvPr/>
        </p:nvSpPr>
        <p:spPr>
          <a:xfrm>
            <a:off x="452120" y="292100"/>
            <a:ext cx="698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盆底肌训练器</a:t>
            </a:r>
            <a:r>
              <a:rPr lang="zh-CN" altLang="en-US" sz="2800" b="1" i="0" u="none" strike="noStrike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类型</a:t>
            </a:r>
            <a:endParaRPr lang="zh-CN" altLang="en-US" sz="2800" b="1" i="0" u="none" strike="noStrike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7"/>
          <p:cNvSpPr/>
          <p:nvPr/>
        </p:nvSpPr>
        <p:spPr>
          <a:xfrm>
            <a:off x="381635" y="92075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9735" y="3175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  <a:sym typeface="+mn-ea"/>
              </a:rPr>
              <a:t>传感器技术路径</a:t>
            </a:r>
            <a:endParaRPr 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70217" y="1095692"/>
          <a:ext cx="11061065" cy="5143500"/>
        </p:xfrm>
        <a:graphic>
          <a:graphicData uri="http://schemas.openxmlformats.org/drawingml/2006/table">
            <a:tbl>
              <a:tblPr firstRow="1" firstCol="1" bandRow="1">
                <a:tableStyleId>{55792912-25BC-47F8-8706-11CC835A840C}</a:tableStyleId>
              </a:tblPr>
              <a:tblGrid>
                <a:gridCol w="1490345"/>
                <a:gridCol w="1412240"/>
                <a:gridCol w="1348105"/>
                <a:gridCol w="1168400"/>
                <a:gridCol w="1958340"/>
                <a:gridCol w="1723390"/>
                <a:gridCol w="1960245"/>
              </a:tblGrid>
              <a:tr h="29527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zh-CN" sz="1200" u="none" strike="noStrike" spc="12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传感器</a:t>
                      </a:r>
                      <a:r>
                        <a:rPr lang="zh-CN" sz="1200" u="none" strike="noStrike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大类</a:t>
                      </a:r>
                      <a:endParaRPr lang="zh-CN" sz="1200" u="none" strike="noStrike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zh-CN" sz="1200" u="none" strike="noStrike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检测对象</a:t>
                      </a:r>
                      <a:endParaRPr lang="zh-CN" sz="1200" u="none" strike="noStrike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zh-CN" sz="1200" u="none" strike="noStrike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典型产品</a:t>
                      </a:r>
                      <a:endParaRPr lang="zh-CN" sz="1200" u="none" strike="noStrike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zh-CN" sz="1200" u="none" strike="noStrike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应用定位</a:t>
                      </a:r>
                      <a:endParaRPr lang="zh-CN" sz="1200" u="none" strike="noStrike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zh-CN" sz="1200" u="none" strike="noStrike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技术演进路径</a:t>
                      </a:r>
                      <a:endParaRPr lang="zh-CN" sz="1200" u="none" strike="noStrike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zh-CN" sz="1200" u="none" strike="noStrike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未来发展方向</a:t>
                      </a:r>
                      <a:endParaRPr lang="zh-CN" sz="1200" u="none" strike="noStrike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sz="1200" spc="120">
                          <a:latin typeface="微软雅黑" panose="020B0503020204020204" charset="-122"/>
                          <a:ea typeface="微软雅黑" panose="020B0503020204020204" charset="-122"/>
                        </a:rPr>
                        <a:t>盆底肌训练器中作用</a:t>
                      </a:r>
                      <a:endParaRPr lang="zh-CN" sz="1200" spc="12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</a:tr>
              <a:tr h="83058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力学传感器</a:t>
                      </a:r>
                      <a:endParaRPr lang="en-US" sz="1000" u="none" strike="noStrike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力、压力、重量、振动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压力/力传感器、阵列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核心基石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气囊测压 → </a:t>
                      </a:r>
                      <a:r>
                        <a:rPr lang="zh-CN" alt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压阻式压力</a:t>
                      </a:r>
                      <a:r>
                        <a:rPr lang="en-US" sz="1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→</a:t>
                      </a: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单点/双</a:t>
                      </a:r>
                      <a:r>
                        <a:rPr lang="zh-CN" alt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压力</a:t>
                      </a: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→ 多点阵列 → 柔性</a:t>
                      </a:r>
                      <a:r>
                        <a:rPr lang="zh-CN" alt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压力阵列</a:t>
                      </a:r>
                      <a:endParaRPr lang="zh-CN" alt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zh-CN" alt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发力路径分析、左右平衡分析、深浅层肌肉识别、柔性电子皮肤、</a:t>
                      </a:r>
                      <a:r>
                        <a:rPr lang="en-US" altLang="zh-CN" sz="1000" b="1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</a:t>
                      </a:r>
                      <a:r>
                        <a:rPr lang="zh-CN" altLang="en-US" sz="1000" b="1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动作评估</a:t>
                      </a:r>
                      <a:endParaRPr lang="zh-CN" altLang="en-US" sz="1000" b="1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是否发力、用了多大力、力发得对不对</a:t>
                      </a:r>
                      <a:endParaRPr 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</a:tr>
              <a:tr h="44831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zh-CN" altLang="en-US" sz="1000" u="none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</a:t>
                      </a:r>
                      <a:r>
                        <a:rPr lang="en-US" altLang="zh-CN" sz="1000" u="none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en-US" sz="1000" u="none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运动传感器</a:t>
                      </a:r>
                      <a:endParaRPr lang="en-US" sz="1000" u="none" strike="noStrike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位移、姿态、运动轨迹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加速度计、陀螺仪、IMU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新兴主力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姿态识别 → AI动作捕捉 → 骨盆运动数字孪生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精准上提轨迹监测、</a:t>
                      </a:r>
                      <a:r>
                        <a:rPr lang="en-US" sz="1000" b="1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代偿动作智能识别</a:t>
                      </a:r>
                      <a:endParaRPr lang="en-US" sz="1000" b="1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动作是否正确</a:t>
                      </a:r>
                      <a:endParaRPr 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</a:tr>
              <a:tr h="4489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zh-CN" altLang="en-US" sz="1000" u="none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肌电</a:t>
                      </a:r>
                      <a:r>
                        <a:rPr lang="en-US" sz="1000" u="none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(EMG)</a:t>
                      </a:r>
                      <a:r>
                        <a:rPr lang="zh-CN" altLang="en-US" sz="1000" u="none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传感器</a:t>
                      </a:r>
                      <a:endParaRPr lang="zh-CN" altLang="en-US" sz="1000" u="none" strike="noStrike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肌肉电信号、神经活动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EMG电极、阴道探头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技术高地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医用EMG → 家用便携 → 高密度EMG闭环治疗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1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神经肌肉激活度分析、生物反馈闭环训练</a:t>
                      </a:r>
                      <a:endParaRPr lang="en-US" sz="1000" b="1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肌肉是否真正激活</a:t>
                      </a:r>
                      <a:endParaRPr 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</a:tr>
              <a:tr h="44831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生物传感器</a:t>
                      </a:r>
                      <a:endParaRPr lang="en-US" sz="1000" b="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生理状态、组织阻抗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生物阻抗模块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高端标配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科研监测 → 疲劳分析 → 个性化生物反馈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盆底肌疲劳评估、组织健康度长期追踪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肌肉状态</a:t>
                      </a: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疲劳监测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</a:tr>
              <a:tr h="44831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温度传感器</a:t>
                      </a:r>
                      <a:endParaRPr lang="en-US" sz="1000" b="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体表/腔内温度变化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热敏电阻、热电偶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辅助监测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接触检测 → 安全保护 → 异常状态预警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炎症风险预警、治疗热效应监控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</a:tr>
              <a:tr h="4489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光学传感器</a:t>
                      </a:r>
                      <a:endParaRPr lang="en-US" sz="1000" b="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血流、组织、生化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PPG、超声、pH探头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探索阶段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实验室研究 → 初步临床验证 → 场景拓展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组织微循环评估、居家医疗辅助诊断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</a:tr>
              <a:tr h="44831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声学传感器</a:t>
                      </a:r>
                      <a:endParaRPr lang="en-US" sz="1000" b="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组织结构/运动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超声探头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医疗诊断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医院超声 → AI辅助超声评估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结构形态评估、远程诊断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</a:tr>
              <a:tr h="44831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化学传感器</a:t>
                      </a:r>
                      <a:endParaRPr lang="en-US" sz="1000" b="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pH、生化指标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pH传感器、离子敏传感器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探索阶段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无应用 → pH监测/炎症监测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阴道微生态评估、个性化健康建议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</a:tr>
              <a:tr h="44894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湿度传感器</a:t>
                      </a:r>
                      <a:endParaRPr lang="en-US" sz="1000" b="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环境/接触湿度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湿度传感器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辅助功能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无应用 → 接触状态识别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清洁度提醒、使用状态监测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</a:tr>
              <a:tr h="25717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气体传感器</a:t>
                      </a:r>
                      <a:endParaRPr lang="en-US" sz="1000" b="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VOC、CO₂</a:t>
                      </a:r>
                      <a:r>
                        <a:rPr lang="zh-CN" alt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等气体</a:t>
                      </a:r>
                      <a:endParaRPr lang="zh-CN" altLang="en-US" sz="1000" u="none" strike="noStrike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气体传感器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无应用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无应用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u="none" strike="noStrike">
                          <a:latin typeface="微软雅黑" panose="020B0503020204020204" charset="-122"/>
                          <a:ea typeface="微软雅黑" panose="020B0503020204020204" charset="-122"/>
                        </a:rPr>
                        <a:t>无明显方向</a:t>
                      </a:r>
                      <a:endParaRPr lang="en-US" sz="1000" u="none" strike="noStrike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ClrTx/>
                        <a:buSzTx/>
                        <a:buFontTx/>
                      </a:pPr>
                      <a:r>
                        <a:rPr lang="zh-CN" altLang="en-US" sz="1000">
                          <a:latin typeface="微软雅黑" panose="020B0503020204020204" charset="-122"/>
                          <a:ea typeface="微软雅黑" panose="020B0503020204020204" charset="-122"/>
                        </a:rPr>
                        <a:t>×</a:t>
                      </a:r>
                      <a:endParaRPr lang="zh-CN" altLang="en-US" sz="100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77800" marR="177800" marT="31750" marB="31750" anchor="ctr" anchorCtr="0"/>
                </a:tc>
              </a:tr>
            </a:tbl>
          </a:graphicData>
        </a:graphic>
      </p:graphicFrame>
      <p:sp>
        <p:nvSpPr>
          <p:cNvPr id="4" name="AutoShape 4"/>
          <p:cNvSpPr/>
          <p:nvPr/>
        </p:nvSpPr>
        <p:spPr>
          <a:xfrm>
            <a:off x="254000" y="6334760"/>
            <a:ext cx="11684000" cy="457200"/>
          </a:xfrm>
          <a:prstGeom prst="roundRect">
            <a:avLst>
              <a:gd name="adj" fmla="val 0"/>
            </a:avLst>
          </a:prstGeom>
          <a:solidFill>
            <a:srgbClr val="6EE7B7">
              <a:alpha val="15000"/>
            </a:srgbClr>
          </a:solidFill>
          <a:ln cap="flat" cmpd="sng">
            <a:solidFill>
              <a:srgbClr val="4DCE9B">
                <a:alpha val="1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381000" y="6358255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7415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关键洞察：</a:t>
            </a:r>
            <a:r>
              <a:rPr lang="en-US" sz="1100" b="0" i="0" u="none" strike="noStrike">
                <a:solidFill>
                  <a:srgbClr val="4B55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力学、运动与EMG传感器构成盆底肌训练的“铁三角”，技术融合与闭环反馈是商业化核心突破口。</a:t>
            </a:r>
            <a:endParaRPr lang="en-US" sz="11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7"/>
          <p:cNvSpPr/>
          <p:nvPr/>
        </p:nvSpPr>
        <p:spPr>
          <a:xfrm>
            <a:off x="419735" y="82550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69900" y="269875"/>
            <a:ext cx="10452100" cy="5556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8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力学传感器技术</a:t>
            </a:r>
            <a:r>
              <a:rPr lang="zh-CN" altLang="en-US" sz="2800" b="1">
                <a:solidFill>
                  <a:srgbClr val="1F29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路径</a:t>
            </a:r>
            <a:endParaRPr lang="zh-CN" altLang="en-US" sz="2800" b="1">
              <a:solidFill>
                <a:srgbClr val="1F29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5910" y="1250950"/>
          <a:ext cx="11527790" cy="508508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82420"/>
                <a:gridCol w="2430145"/>
                <a:gridCol w="2485390"/>
                <a:gridCol w="1844675"/>
                <a:gridCol w="1343660"/>
                <a:gridCol w="1841500"/>
              </a:tblGrid>
              <a:tr h="49339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zh-CN" sz="1200" b="1" i="0" u="none" strike="noStrike" spc="12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力</a:t>
                      </a:r>
                      <a:r>
                        <a:rPr lang="zh-CN" sz="1200" b="1" i="0" u="none" strike="noStrike" spc="12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学传感器类型</a:t>
                      </a:r>
                      <a:endParaRPr lang="zh-CN" sz="1200" b="1" i="0" u="none" strike="noStrike" spc="12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zh-CN" sz="1200" b="1" i="0" u="none" strike="noStrike" spc="12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核心原理与特性</a:t>
                      </a:r>
                      <a:endParaRPr lang="zh-CN" sz="1200" b="1" i="0" u="none" strike="noStrike" spc="12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zh-CN" sz="1200" b="1" i="0" u="none" strike="noStrike" spc="12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技术优势与适配性</a:t>
                      </a:r>
                      <a:endParaRPr lang="zh-CN" sz="1200" b="1" i="0" u="none" strike="noStrike" spc="12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zh-CN" sz="1200" b="1" i="0" u="none" strike="noStrike" spc="12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主要局限性</a:t>
                      </a:r>
                      <a:endParaRPr lang="zh-CN" sz="1200" b="1" i="0" u="none" strike="noStrike" spc="12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zh-CN" sz="1200" b="1" i="0" u="none" strike="noStrike" spc="12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壁垒</a:t>
                      </a:r>
                      <a:r>
                        <a:rPr lang="en-US" altLang="zh-CN" sz="1200" b="1" i="0" u="none" strike="noStrike" spc="12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/</a:t>
                      </a:r>
                      <a:r>
                        <a:rPr lang="zh-CN" altLang="en-US" sz="1200" b="1" i="0" u="none" strike="noStrike" spc="12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成本</a:t>
                      </a:r>
                      <a:endParaRPr lang="zh-CN" altLang="en-US" sz="1200" b="1" i="0" u="none" strike="noStrike" spc="12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zh-CN" sz="1200" b="1" i="0" u="none" strike="noStrike" spc="12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典型应用场景</a:t>
                      </a:r>
                      <a:endParaRPr lang="zh-CN" sz="1200" b="1" i="0" u="none" strike="noStrike" spc="12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0"/>
                      </a:srgbClr>
                    </a:solidFill>
                  </a:tcPr>
                </a:tc>
              </a:tr>
              <a:tr h="62039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气囊压力传感</a:t>
                      </a:r>
                      <a:endParaRPr lang="en-US" sz="1000" b="1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压缩气囊传导气压，检测整体阴道压力，原理直观。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临床认知度高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，用户理解门槛低，成本低，适合基础生物反馈。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体积较大，响应慢，易受腹压干扰，气囊易老化，难以小型化。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10B98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低壁垒</a:t>
                      </a:r>
                      <a:br>
                        <a:rPr lang="en-US" sz="10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</a:b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★☆☆☆☆</a:t>
                      </a:r>
                      <a:endParaRPr lang="en-US" sz="1000" b="0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医院康复仪、传统生物反馈设备、Kegel8部分设备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62039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压阻式传感</a:t>
                      </a:r>
                      <a:endParaRPr lang="en-US" sz="1000" b="1" i="0" u="none" strike="noStrike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硅压阻形变改变电阻，测量压力强度与收缩幅度。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成本低，</a:t>
                      </a: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体积小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，易于集成蓝牙等智能设备。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存在温漂和零点漂移，长期稳定性一般，测量的是压力而非肌肉本身。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B82F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中壁垒</a:t>
                      </a:r>
                      <a:br>
                        <a:rPr lang="en-US" sz="10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</a:b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★★☆☆☆</a:t>
                      </a:r>
                      <a:endParaRPr lang="en-US" sz="1000" b="0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Perifit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类压力反馈训练器、主流App生物反馈训练器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2039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电容式传感</a:t>
                      </a:r>
                      <a:endParaRPr lang="en-US" sz="1000" b="1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电极间距/介电层变化改变电容，高灵敏，低功耗。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灵敏度高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，重复性好，功耗低，适合构建柔性结构。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对湿度、液体、封装和寄生电容敏感，制造工艺要求高。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F59E0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中-高壁垒</a:t>
                      </a:r>
                      <a:br>
                        <a:rPr lang="en-US" sz="10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</a:b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★★★☆☆</a:t>
                      </a:r>
                      <a:endParaRPr lang="en-US" sz="1000" b="0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高端家用训练器、医疗级生物反馈设备、未来柔性探头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61976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MEMS微机电</a:t>
                      </a:r>
                      <a:endParaRPr lang="en-US" sz="1000" b="0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微机电膜片受压形变，转换为压阻/电容信号，小型高精度。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体积小，稳定性好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，适合智能硬件量产和</a:t>
                      </a: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可穿戴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设备。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生物防水封装难度大，探头结构集成要求高。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EF4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高壁垒</a:t>
                      </a:r>
                      <a:br>
                        <a:rPr lang="en-US" sz="10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</a:b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★★★☆☆</a:t>
                      </a:r>
                      <a:endParaRPr lang="en-US" sz="1000" b="0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小型化智能训练器、医疗级可穿戴/植入式监测设备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62039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FSR力敏电阻</a:t>
                      </a:r>
                      <a:endParaRPr lang="en-US" sz="1000" b="1" i="0" u="none" strike="noStrike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导电颗粒接触面积变化导致电阻下降，测挤压力。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zh-CN" alt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极</a:t>
                      </a: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薄、便宜、容易集成、响应快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精度一般，线性度差，迟滞明显，长期重复性一般。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B82F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中壁垒</a:t>
                      </a:r>
                      <a:br>
                        <a:rPr lang="en-US" sz="10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</a:b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★☆☆☆☆</a:t>
                      </a:r>
                      <a:endParaRPr lang="en-US" sz="1000" b="0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Elvie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类消费级训练器、低功耗智能硬件、力反馈探头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43497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应变片传感</a:t>
                      </a:r>
                      <a:endParaRPr lang="en-US" sz="1000" b="0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探头或弹性梁受力变形，应变片电阻随之变化。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精度高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，技术成熟稳定，线性好。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结构设计复杂，不适合制作极小或柔性探头。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B82F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中壁垒</a:t>
                      </a:r>
                      <a:br>
                        <a:rPr lang="en-US" sz="10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</a:b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★★☆☆☆</a:t>
                      </a:r>
                      <a:endParaRPr lang="en-US" sz="1000" b="0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医疗级康复设备、结构受力检测、实验型训练器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3497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sz="1100" b="1" i="0" u="none" strike="noStrike">
                          <a:solidFill>
                            <a:srgbClr val="E8A83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柔性压阻薄膜</a:t>
                      </a:r>
                      <a:endParaRPr lang="en-US" sz="1000" b="1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柔性导电复合材料受压后电阻变化，</a:t>
                      </a: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柔软贴合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舒适度高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，可贴合</a:t>
                      </a: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阴道曲面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，适合</a:t>
                      </a: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多点压力检测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一致性、寿命问题待解决，</a:t>
                      </a:r>
                      <a:r>
                        <a:rPr lang="zh-CN" alt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工艺复杂、成本高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EF4444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高壁垒</a:t>
                      </a:r>
                      <a:br>
                        <a:rPr lang="en-US" sz="10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</a:b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★★★★☆</a:t>
                      </a:r>
                      <a:endParaRPr lang="en-US" sz="1000" b="0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下一代</a:t>
                      </a: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柔性盆底肌训练器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、可穿戴盆底康复产品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62039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多点压力矩阵</a:t>
                      </a:r>
                      <a:endParaRPr lang="en-US" sz="1000" b="0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多个压力传感单元组成阵列，同步采集压力分布。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1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信息量最大</a:t>
                      </a: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，可从“力量大小”升级到“发力质量”评估。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成本高，结构复杂，算法门槛高，清洁和防水难度大。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B91C1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很高壁垒</a:t>
                      </a:r>
                      <a:br>
                        <a:rPr lang="en-US" sz="1000" b="0" i="0" u="none" strike="noStrike">
                          <a:solidFill>
                            <a:srgbClr val="1F232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</a:br>
                      <a:r>
                        <a:rPr lang="en-US" sz="1000" b="0" i="0" u="none" strike="noStrike">
                          <a:solidFill>
                            <a:srgbClr val="37415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★★★★★</a:t>
                      </a:r>
                      <a:endParaRPr lang="en-US" sz="1000" b="0" i="0" u="none" strike="noStrike">
                        <a:solidFill>
                          <a:srgbClr val="37415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20000"/>
                        </a:lnSpc>
                        <a:defRPr/>
                      </a:pPr>
                      <a:r>
                        <a:rPr lang="en-US" sz="1000" b="0" i="0" u="none" strike="noStrike">
                          <a:solidFill>
                            <a:srgbClr val="4B55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Noto Sans SC" panose="020B0200000000000000" charset="-122"/>
                        </a:rPr>
                        <a:t>AI驱动智能评估设备、科研级盆底功能评估系统</a:t>
                      </a:r>
                      <a:endParaRPr lang="en-US" sz="1000" b="0" i="0" u="none" strike="noStrike">
                        <a:solidFill>
                          <a:srgbClr val="4B556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Noto Sans SC" panose="020B0200000000000000" charset="-122"/>
                      </a:endParaRPr>
                    </a:p>
                  </a:txBody>
                  <a:tcPr marL="177800" marR="177800" marT="31750" marB="317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295910" y="6461125"/>
            <a:ext cx="11176000" cy="2794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技术趋势：</a:t>
            </a:r>
            <a:r>
              <a:rPr lang="zh-CN" altLang="en-US" sz="10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单点测压力 → 双点识别错误发力 → 多点压力地图 → 柔性电子皮肤+</a:t>
            </a:r>
            <a:r>
              <a:rPr lang="en-US" altLang="zh-CN" sz="10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000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分析。</a:t>
            </a:r>
            <a:endParaRPr lang="en-US" sz="1100"/>
          </a:p>
        </p:txBody>
      </p:sp>
      <p:sp>
        <p:nvSpPr>
          <p:cNvPr id="6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7"/>
          <p:cNvSpPr/>
          <p:nvPr/>
        </p:nvSpPr>
        <p:spPr>
          <a:xfrm>
            <a:off x="419735" y="915035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065" y="2446020"/>
            <a:ext cx="622935" cy="520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3040" y="4327525"/>
            <a:ext cx="51435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5765" y="301625"/>
            <a:ext cx="809815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</a:rPr>
              <a:t>电刺激类</a:t>
            </a:r>
            <a:r>
              <a:rPr lang="zh-CN" sz="2800">
                <a:ea typeface="微软雅黑" panose="020B0503020204020204" charset="-122"/>
              </a:rPr>
              <a:t>技术</a:t>
            </a:r>
            <a:r>
              <a:rPr lang="zh-CN" sz="2800">
                <a:ea typeface="微软雅黑" panose="020B0503020204020204" charset="-122"/>
              </a:rPr>
              <a:t>路径</a:t>
            </a:r>
            <a:endParaRPr lang="zh-CN" sz="2800"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9154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1097280"/>
            <a:ext cx="53035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1097280"/>
            <a:ext cx="530352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1207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电刺激类型对应关系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8" y="1554480"/>
            <a:ext cx="5084064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TENS：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刺激感觉神经→止痛/神经调节，不直接训练肌肉 — 盆底应用有限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NMES/EMS</a:t>
            </a: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刺激运动神经→强制肌肉收缩 — 盆底训练主力（Kegel8/iSTIM/澜渟）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FES：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神经+肌肉功能链→功能性收缩重建 — 更接近自然运动，但系统复杂成本高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HVPC/Microcurrent：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组织修复/美容方向，不适用于盆底训练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Burst包络：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把高频脉冲打包成节律性刺激包（on/off节奏），模拟自然收缩节律 → 疲劳控制关键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502920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502920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55080" y="12070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波形演进路径</a:t>
            </a:r>
            <a:endParaRPr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7648" y="1554480"/>
            <a:ext cx="4809744" cy="149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方波 →</a:t>
            </a: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1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双相波</a:t>
            </a: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NMES标准，电荷平衡安全版）</a:t>
            </a:r>
            <a:endParaRPr sz="11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Burst波（模拟自然收缩节律，疲劳控制好）</a:t>
            </a:r>
            <a:endParaRPr sz="11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Ramp波（温和唤醒肌肉，康复首选）</a:t>
            </a:r>
            <a:endParaRPr sz="11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复合调制波</a:t>
            </a: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（FES/医疗级，AI智能控制波形系统</a:t>
            </a:r>
            <a:r>
              <a:rPr sz="1100" b="1">
                <a:solidFill>
                  <a:srgbClr val="7B1FA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100" b="1">
              <a:solidFill>
                <a:srgbClr val="7B1FA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当前市场：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基本都在双相波阶段。复合调制波=下一代核心竞争力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关键参数：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频率20-50Hz </a:t>
            </a: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脉宽200-400μs / 电流mA级 / Ramp上升时间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10515600" cy="3657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54864" cy="36576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3657600"/>
            <a:ext cx="10241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从「固定波形NMES」到「AI自适应复合调制波FES」是电刺激路线的技术护城河。核心在于EMG感知→AI决策→波形实时调整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114800"/>
            <a:ext cx="5303520" cy="18548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4114800"/>
            <a:ext cx="5303520" cy="78105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4224655"/>
            <a:ext cx="5029200" cy="3600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蓝牙技术选型</a:t>
            </a:r>
            <a:endParaRPr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935" y="4572000"/>
            <a:ext cx="5083810" cy="12357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BLE 4.x：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当前主流（Elvie/Perifit均用）— 功耗低距离受限(10m)</a:t>
            </a:r>
            <a:r>
              <a:rPr lang="zh-CN"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连接不稳定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BLE 5.x：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现代设备标准 — 远距离(200m)+强抗干扰+广播增强 → 推荐选择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经典蓝牙：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盆底设备基本不用（功耗高）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 Audio</a:t>
            </a: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未来方向 — 语音反馈+多设备同步，尚未医疗落地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0" y="4114800"/>
            <a:ext cx="5029200" cy="185483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17920" y="4114800"/>
            <a:ext cx="5029200" cy="78105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55080" y="4224655"/>
            <a:ext cx="4754880" cy="36004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1">
                <a:solidFill>
                  <a:srgbClr val="2A9D8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关键选择：BLE 5.0+ vs 独立控制器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27775" y="4572000"/>
            <a:ext cx="4809490" cy="12357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App路线（BLE 5.0+）：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数据积累+AI分析+远程医疗+用户粘性 → 长期壁垒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独立控制器：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稳定可靠+即时反馈 → 短期体验好，但丧失数据价值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2A9D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BLE 5.0+为主+离线缓存（解决断连焦虑）+外置天线（解决人体屏蔽）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A8A3"/>
                </a:solidFill>
                <a:latin typeface="微软雅黑" panose="020B0503020204020204" charset="-122"/>
              </a:defRPr>
            </a:pPr>
            <a:r>
              <a:t>用户画像 · 行为旅程 · 购买决策 · 信息渠道 · Top10核心痛点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749039"/>
            <a:ext cx="2743200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286385" y="165100"/>
            <a:ext cx="5334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Microsoft YaHei UI" panose="020B0503020204020204" charset="-122"/>
              </a:rPr>
              <a:t>盆底肌训练器用户画像</a:t>
            </a:r>
            <a:endParaRPr sz="2800" b="1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9570" y="65151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图片 4" descr="ChatGPT Image 2026年7月6日 14_05_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685" y="777240"/>
            <a:ext cx="7622540" cy="6080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/>
        </p:nvSpPr>
        <p:spPr>
          <a:xfrm>
            <a:off x="476250" y="544830"/>
            <a:ext cx="10668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用户行为旅程</a:t>
            </a:r>
            <a:endParaRPr sz="2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journey-0"/>
          <p:cNvSpPr>
            <a:spLocks noGrp="1"/>
          </p:cNvSpPr>
          <p:nvPr/>
        </p:nvSpPr>
        <p:spPr>
          <a:xfrm>
            <a:off x="590550" y="2305050"/>
            <a:ext cx="1752600" cy="247650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journey-no-0"/>
          <p:cNvSpPr>
            <a:spLocks noGrp="1"/>
          </p:cNvSpPr>
          <p:nvPr/>
        </p:nvSpPr>
        <p:spPr>
          <a:xfrm>
            <a:off x="742950" y="2457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journey-title-0"/>
          <p:cNvSpPr>
            <a:spLocks noGrp="1"/>
          </p:cNvSpPr>
          <p:nvPr/>
        </p:nvSpPr>
        <p:spPr>
          <a:xfrm>
            <a:off x="1143000" y="247650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症状出现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journey-body-0"/>
          <p:cNvSpPr>
            <a:spLocks noGrp="1"/>
          </p:cNvSpPr>
          <p:nvPr/>
        </p:nvSpPr>
        <p:spPr>
          <a:xfrm>
            <a:off x="762000" y="2971800"/>
            <a:ext cx="1409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漏尿/松弛/产后恢复焦虑</a:t>
            </a:r>
            <a:endParaRPr sz="112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journey-question-box-0"/>
          <p:cNvSpPr>
            <a:spLocks noGrp="1"/>
          </p:cNvSpPr>
          <p:nvPr/>
        </p:nvSpPr>
        <p:spPr>
          <a:xfrm>
            <a:off x="742950" y="3848100"/>
            <a:ext cx="1447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journey-question-0"/>
          <p:cNvSpPr>
            <a:spLocks noGrp="1"/>
          </p:cNvSpPr>
          <p:nvPr/>
        </p:nvSpPr>
        <p:spPr>
          <a:xfrm>
            <a:off x="819150" y="40195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我是不是需要治疗？</a:t>
            </a:r>
            <a:endParaRPr sz="109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journey-1"/>
          <p:cNvSpPr>
            <a:spLocks noGrp="1"/>
          </p:cNvSpPr>
          <p:nvPr/>
        </p:nvSpPr>
        <p:spPr>
          <a:xfrm>
            <a:off x="2495550" y="2305050"/>
            <a:ext cx="1752600" cy="247650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journey-no-1"/>
          <p:cNvSpPr>
            <a:spLocks noGrp="1"/>
          </p:cNvSpPr>
          <p:nvPr/>
        </p:nvSpPr>
        <p:spPr>
          <a:xfrm>
            <a:off x="2647950" y="2457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journey-title-1"/>
          <p:cNvSpPr>
            <a:spLocks noGrp="1"/>
          </p:cNvSpPr>
          <p:nvPr/>
        </p:nvSpPr>
        <p:spPr>
          <a:xfrm>
            <a:off x="3048000" y="247650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信息搜索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journey-body-1"/>
          <p:cNvSpPr>
            <a:spLocks noGrp="1"/>
          </p:cNvSpPr>
          <p:nvPr/>
        </p:nvSpPr>
        <p:spPr>
          <a:xfrm>
            <a:off x="2667000" y="2971800"/>
            <a:ext cx="1409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975" b="0">
                <a:solidFill>
                  <a:srgbClr val="6B6259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Google/社媒平台搜索</a:t>
            </a:r>
            <a:endParaRPr sz="112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journey-question-box-1"/>
          <p:cNvSpPr>
            <a:spLocks noGrp="1"/>
          </p:cNvSpPr>
          <p:nvPr/>
        </p:nvSpPr>
        <p:spPr>
          <a:xfrm>
            <a:off x="2647950" y="3848100"/>
            <a:ext cx="1447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journey-question-1"/>
          <p:cNvSpPr>
            <a:spLocks noGrp="1"/>
          </p:cNvSpPr>
          <p:nvPr/>
        </p:nvSpPr>
        <p:spPr>
          <a:xfrm>
            <a:off x="2724150" y="40195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这东西真的有用吗？</a:t>
            </a:r>
            <a:endParaRPr sz="109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journey-2"/>
          <p:cNvSpPr>
            <a:spLocks noGrp="1"/>
          </p:cNvSpPr>
          <p:nvPr/>
        </p:nvSpPr>
        <p:spPr>
          <a:xfrm>
            <a:off x="4400550" y="2305050"/>
            <a:ext cx="1752600" cy="2476500"/>
          </a:xfrm>
          <a:prstGeom prst="roundRect">
            <a:avLst>
              <a:gd name="adj" fmla="val 6522"/>
            </a:avLst>
          </a:prstGeom>
          <a:solidFill>
            <a:srgbClr val="F8FAFC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journey-no-2"/>
          <p:cNvSpPr>
            <a:spLocks noGrp="1"/>
          </p:cNvSpPr>
          <p:nvPr/>
        </p:nvSpPr>
        <p:spPr>
          <a:xfrm>
            <a:off x="4552950" y="2457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journey-title-2"/>
          <p:cNvSpPr>
            <a:spLocks noGrp="1"/>
          </p:cNvSpPr>
          <p:nvPr/>
        </p:nvSpPr>
        <p:spPr>
          <a:xfrm>
            <a:off x="4953000" y="247650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比较购买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journey-body-2"/>
          <p:cNvSpPr>
            <a:spLocks noGrp="1"/>
          </p:cNvSpPr>
          <p:nvPr/>
        </p:nvSpPr>
        <p:spPr>
          <a:xfrm>
            <a:off x="4572000" y="2971800"/>
            <a:ext cx="1409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看资质、评价、</a:t>
            </a:r>
            <a:r>
              <a:rPr lang="zh-CN"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效果、</a:t>
            </a:r>
            <a:r>
              <a:rPr lang="zh-CN"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</a:t>
            </a:r>
            <a:endParaRPr lang="zh-CN" sz="112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journey-question-box-2"/>
          <p:cNvSpPr>
            <a:spLocks noGrp="1"/>
          </p:cNvSpPr>
          <p:nvPr/>
        </p:nvSpPr>
        <p:spPr>
          <a:xfrm>
            <a:off x="4552950" y="3848100"/>
            <a:ext cx="1447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journey-question-2"/>
          <p:cNvSpPr>
            <a:spLocks noGrp="1"/>
          </p:cNvSpPr>
          <p:nvPr/>
        </p:nvSpPr>
        <p:spPr>
          <a:xfrm>
            <a:off x="4629150" y="40195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选生物反馈还是电刺激？</a:t>
            </a:r>
            <a:endParaRPr sz="109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journey-3"/>
          <p:cNvSpPr>
            <a:spLocks noGrp="1"/>
          </p:cNvSpPr>
          <p:nvPr/>
        </p:nvSpPr>
        <p:spPr>
          <a:xfrm>
            <a:off x="6305550" y="2305050"/>
            <a:ext cx="1752600" cy="2476500"/>
          </a:xfrm>
          <a:prstGeom prst="roundRect">
            <a:avLst>
              <a:gd name="adj" fmla="val 6522"/>
            </a:avLst>
          </a:prstGeom>
          <a:solidFill>
            <a:srgbClr val="FFF7ED"/>
          </a:solidFill>
          <a:ln w="14288">
            <a:solidFill>
              <a:srgbClr val="EA580C"/>
            </a:solidFill>
            <a:prstDash val="solid"/>
          </a:ln>
        </p:spPr>
      </p:sp>
      <p:sp>
        <p:nvSpPr>
          <p:cNvPr id="24" name="journey-no-3"/>
          <p:cNvSpPr>
            <a:spLocks noGrp="1"/>
          </p:cNvSpPr>
          <p:nvPr/>
        </p:nvSpPr>
        <p:spPr>
          <a:xfrm>
            <a:off x="6457950" y="2457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65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journey-title-3"/>
          <p:cNvSpPr>
            <a:spLocks noGrp="1"/>
          </p:cNvSpPr>
          <p:nvPr/>
        </p:nvSpPr>
        <p:spPr>
          <a:xfrm>
            <a:off x="6858000" y="247650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首次使用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journey-body-3"/>
          <p:cNvSpPr>
            <a:spLocks noGrp="1"/>
          </p:cNvSpPr>
          <p:nvPr/>
        </p:nvSpPr>
        <p:spPr>
          <a:xfrm>
            <a:off x="6477000" y="2971800"/>
            <a:ext cx="1409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清洁、佩戴、校准、连接App</a:t>
            </a:r>
            <a:endParaRPr sz="112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journey-question-box-3"/>
          <p:cNvSpPr>
            <a:spLocks noGrp="1"/>
          </p:cNvSpPr>
          <p:nvPr/>
        </p:nvSpPr>
        <p:spPr>
          <a:xfrm>
            <a:off x="6457950" y="3848100"/>
            <a:ext cx="1447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journey-question-3"/>
          <p:cNvSpPr>
            <a:spLocks noGrp="1"/>
          </p:cNvSpPr>
          <p:nvPr/>
        </p:nvSpPr>
        <p:spPr>
          <a:xfrm>
            <a:off x="6534150" y="40195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我有没有放对、练对？</a:t>
            </a:r>
            <a:endParaRPr sz="109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journey-4"/>
          <p:cNvSpPr>
            <a:spLocks noGrp="1"/>
          </p:cNvSpPr>
          <p:nvPr/>
        </p:nvSpPr>
        <p:spPr>
          <a:xfrm>
            <a:off x="8210550" y="2305050"/>
            <a:ext cx="1752600" cy="2476500"/>
          </a:xfrm>
          <a:prstGeom prst="roundRect">
            <a:avLst>
              <a:gd name="adj" fmla="val 6522"/>
            </a:avLst>
          </a:prstGeom>
          <a:solidFill>
            <a:srgbClr val="ECFEFF"/>
          </a:solidFill>
          <a:ln w="14288">
            <a:solidFill>
              <a:srgbClr val="0891B2"/>
            </a:solidFill>
            <a:prstDash val="solid"/>
          </a:ln>
        </p:spPr>
      </p:sp>
      <p:sp>
        <p:nvSpPr>
          <p:cNvPr id="30" name="journey-no-4"/>
          <p:cNvSpPr>
            <a:spLocks noGrp="1"/>
          </p:cNvSpPr>
          <p:nvPr/>
        </p:nvSpPr>
        <p:spPr>
          <a:xfrm>
            <a:off x="8362950" y="2457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6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65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journey-title-4"/>
          <p:cNvSpPr>
            <a:spLocks noGrp="1"/>
          </p:cNvSpPr>
          <p:nvPr/>
        </p:nvSpPr>
        <p:spPr>
          <a:xfrm>
            <a:off x="8763000" y="247650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坚持</a:t>
            </a:r>
            <a:r>
              <a:rPr lang="en-US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放弃</a:t>
            </a:r>
            <a:endParaRPr lang="zh-CN" altLang="en-US"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journey-body-4"/>
          <p:cNvSpPr>
            <a:spLocks noGrp="1"/>
          </p:cNvSpPr>
          <p:nvPr/>
        </p:nvSpPr>
        <p:spPr>
          <a:xfrm>
            <a:off x="8382000" y="2971800"/>
            <a:ext cx="1409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课程、得分、提醒、反馈</a:t>
            </a:r>
            <a:r>
              <a:rPr lang="zh-CN"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，或坚持不想去放弃、</a:t>
            </a:r>
            <a:r>
              <a:rPr lang="zh-CN"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差评</a:t>
            </a:r>
            <a:endParaRPr lang="zh-CN" sz="112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journey-question-box-4"/>
          <p:cNvSpPr>
            <a:spLocks noGrp="1"/>
          </p:cNvSpPr>
          <p:nvPr/>
        </p:nvSpPr>
        <p:spPr>
          <a:xfrm>
            <a:off x="8362950" y="3848100"/>
            <a:ext cx="1447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journey-question-4"/>
          <p:cNvSpPr>
            <a:spLocks noGrp="1"/>
          </p:cNvSpPr>
          <p:nvPr/>
        </p:nvSpPr>
        <p:spPr>
          <a:xfrm>
            <a:off x="8439150" y="40195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为什么还没看到效果？</a:t>
            </a:r>
            <a:endParaRPr sz="109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journey-5"/>
          <p:cNvSpPr>
            <a:spLocks noGrp="1"/>
          </p:cNvSpPr>
          <p:nvPr/>
        </p:nvSpPr>
        <p:spPr>
          <a:xfrm>
            <a:off x="10115550" y="2305050"/>
            <a:ext cx="1752600" cy="2476500"/>
          </a:xfrm>
          <a:prstGeom prst="roundRect">
            <a:avLst>
              <a:gd name="adj" fmla="val 6522"/>
            </a:avLst>
          </a:prstGeom>
          <a:solidFill>
            <a:srgbClr val="F0FDF4"/>
          </a:solidFill>
          <a:ln w="14288">
            <a:solidFill>
              <a:srgbClr val="16A34A"/>
            </a:solidFill>
            <a:prstDash val="solid"/>
          </a:ln>
        </p:spPr>
      </p:sp>
      <p:sp>
        <p:nvSpPr>
          <p:cNvPr id="36" name="journey-no-5"/>
          <p:cNvSpPr>
            <a:spLocks noGrp="1"/>
          </p:cNvSpPr>
          <p:nvPr/>
        </p:nvSpPr>
        <p:spPr>
          <a:xfrm>
            <a:off x="10267950" y="24574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6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6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journey-title-5"/>
          <p:cNvSpPr>
            <a:spLocks noGrp="1"/>
          </p:cNvSpPr>
          <p:nvPr/>
        </p:nvSpPr>
        <p:spPr>
          <a:xfrm>
            <a:off x="10668000" y="247650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l"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复购/推荐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journey-body-5"/>
          <p:cNvSpPr>
            <a:spLocks noGrp="1"/>
          </p:cNvSpPr>
          <p:nvPr/>
        </p:nvSpPr>
        <p:spPr>
          <a:xfrm>
            <a:off x="10287000" y="2971800"/>
            <a:ext cx="1409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漏尿改善、数据变化、复购耗材</a:t>
            </a:r>
            <a:r>
              <a:rPr lang="zh-CN"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、向外界</a:t>
            </a:r>
            <a:r>
              <a:rPr lang="zh-CN" sz="112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</a:t>
            </a:r>
            <a:endParaRPr lang="zh-CN" sz="112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journey-question-box-5"/>
          <p:cNvSpPr>
            <a:spLocks noGrp="1"/>
          </p:cNvSpPr>
          <p:nvPr/>
        </p:nvSpPr>
        <p:spPr>
          <a:xfrm>
            <a:off x="10267950" y="3848100"/>
            <a:ext cx="14478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journey-question-5"/>
          <p:cNvSpPr>
            <a:spLocks noGrp="1"/>
          </p:cNvSpPr>
          <p:nvPr/>
        </p:nvSpPr>
        <p:spPr>
          <a:xfrm>
            <a:off x="10344150" y="401955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是否值得继续？</a:t>
            </a:r>
            <a:endParaRPr sz="109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journey-arrow-0"/>
          <p:cNvSpPr>
            <a:spLocks noGrp="1"/>
          </p:cNvSpPr>
          <p:nvPr/>
        </p:nvSpPr>
        <p:spPr>
          <a:xfrm>
            <a:off x="2352675" y="3200400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5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journey-arrow-1"/>
          <p:cNvSpPr>
            <a:spLocks noGrp="1"/>
          </p:cNvSpPr>
          <p:nvPr/>
        </p:nvSpPr>
        <p:spPr>
          <a:xfrm>
            <a:off x="4257675" y="3200400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5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journey-arrow-2"/>
          <p:cNvSpPr>
            <a:spLocks noGrp="1"/>
          </p:cNvSpPr>
          <p:nvPr/>
        </p:nvSpPr>
        <p:spPr>
          <a:xfrm>
            <a:off x="6162675" y="3200400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5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journey-arrow-3"/>
          <p:cNvSpPr>
            <a:spLocks noGrp="1"/>
          </p:cNvSpPr>
          <p:nvPr/>
        </p:nvSpPr>
        <p:spPr>
          <a:xfrm>
            <a:off x="8067675" y="3200400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5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journey-arrow-4"/>
          <p:cNvSpPr>
            <a:spLocks noGrp="1"/>
          </p:cNvSpPr>
          <p:nvPr/>
        </p:nvSpPr>
        <p:spPr>
          <a:xfrm>
            <a:off x="9972675" y="3200400"/>
            <a:ext cx="152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350" b="1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journey-callout-1"/>
          <p:cNvSpPr>
            <a:spLocks noGrp="1"/>
          </p:cNvSpPr>
          <p:nvPr/>
        </p:nvSpPr>
        <p:spPr>
          <a:xfrm>
            <a:off x="6457950" y="5013325"/>
            <a:ext cx="152273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转化阻力</a:t>
            </a:r>
            <a:endParaRPr sz="150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journey-callout-2"/>
          <p:cNvSpPr>
            <a:spLocks noGrp="1"/>
          </p:cNvSpPr>
          <p:nvPr/>
        </p:nvSpPr>
        <p:spPr>
          <a:xfrm>
            <a:off x="8514080" y="5013325"/>
            <a:ext cx="13684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5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坚持阻力</a:t>
            </a:r>
            <a:endParaRPr sz="150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journey-callout-3"/>
          <p:cNvSpPr>
            <a:spLocks noGrp="1"/>
          </p:cNvSpPr>
          <p:nvPr/>
        </p:nvSpPr>
        <p:spPr>
          <a:xfrm>
            <a:off x="10189210" y="5013325"/>
            <a:ext cx="1797050" cy="3168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信任闭环</a:t>
            </a:r>
            <a:endParaRPr sz="150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7"/>
          <p:cNvSpPr/>
          <p:nvPr/>
        </p:nvSpPr>
        <p:spPr>
          <a:xfrm>
            <a:off x="354330" y="1105535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01625"/>
            <a:ext cx="795528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 sz="2800">
                <a:ea typeface="微软雅黑" panose="020B0503020204020204" charset="-122"/>
              </a:rPr>
              <a:t>购买决策因子与信息渠道影响力</a:t>
            </a:r>
            <a:endParaRPr sz="2800"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86868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94360" y="1282700"/>
            <a:ext cx="530352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94360" y="1282700"/>
            <a:ext cx="5303520" cy="54864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13924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746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购买决策因子（重要性排序）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088" y="1739900"/>
            <a:ext cx="508406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临床验证/FDA认证 5/5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医学背书与FDA是进入北美市场的入场券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真实用户评价/口碑 5/5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Amazon评分&lt;4.0，几乎无法进入主流选择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效果可衡量性 4/5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用户想看到数据化进展，而非仅凭感觉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使用便利性 4/5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5-20分钟训练、少脱衣、可静音居家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价格/性价比 3/5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$20以下与$150+两大价格带，中间带需求释放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隐私/隐蔽性 3/5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置入式有心理障碍，外部训练器需求增长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品牌专业度 3/5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Elvie等女性健康品牌延伸效应显著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 App/游戏化体验 3/5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年轻用户期待高，中老年用户敏感度较低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1282700"/>
            <a:ext cx="51206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72200" y="1282700"/>
            <a:ext cx="5120640" cy="54864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9360" y="13924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信息渠道影响力</a:t>
            </a:r>
            <a:endParaRPr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1928" y="1739900"/>
            <a:ext cx="490118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社交媒体/短视频 48%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小红书/Facebook/TikTok：痛点教育+场景种草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Amazon搜索/评论 35%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承接购买意图，评分/QA直接影响转化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医院/医生推荐 27%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强化安全感，影响产后与围绝经期用户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亲友口碑/社群 25%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降低羞耻感试错成本，适合私域/妈妈社群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E8A8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Google/健康博客 20%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 SEO获客，症状解释/方案比较/专业背书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4565015"/>
            <a:ext cx="10515600" cy="3657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4565015"/>
            <a:ext cx="54864" cy="365760"/>
          </a:xfrm>
          <a:prstGeom prst="rect">
            <a:avLst/>
          </a:prstGeom>
          <a:solidFill>
            <a:srgbClr val="14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4599940"/>
            <a:ext cx="10241280" cy="2870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00" b="0">
                <a:solidFill>
                  <a:srgbClr val="0D3B3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临床验证、真实口碑和可衡量效果，是用户愿意进入高价带的前提。短视频做种草，Amazon/Google承接验证，医生与社群补足信任闭环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5113655"/>
            <a:ext cx="10515600" cy="1061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Reddit社区洞察：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r/PelvicFloor(56K)/r/Menopause(80K+)/r/Postpartum(50K+) — 这不是消费决策社区，而是求助/误诊讨论/男性盆底和真实口碑监测场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1474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Reddit关键词：</a:t>
            </a:r>
            <a:r>
              <a:rPr sz="1100">
                <a:solidFill>
                  <a:srgbClr val="1A1A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盆底肌紧张/疼痛(100%) &gt; 康复挫败(32%) &gt; 慢性盆腔疼痛(26%) &gt; 男性盆底(23%) — 「先评估再训练」是社区核心诉求</a:t>
            </a:r>
            <a:endParaRPr sz="1100">
              <a:solidFill>
                <a:srgbClr val="1A1A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pain-row-3"/>
          <p:cNvSpPr>
            <a:spLocks noGrp="1"/>
          </p:cNvSpPr>
          <p:nvPr/>
        </p:nvSpPr>
        <p:spPr>
          <a:xfrm>
            <a:off x="704850" y="3314700"/>
            <a:ext cx="64960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495300" y="43180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盆底肌训练器 Top 10 核心痛点</a:t>
            </a:r>
            <a:endParaRPr sz="2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eft-title"/>
          <p:cNvSpPr>
            <a:spLocks noGrp="1"/>
          </p:cNvSpPr>
          <p:nvPr/>
        </p:nvSpPr>
        <p:spPr>
          <a:xfrm>
            <a:off x="704850" y="1733550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 10 流失痛点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head-a"/>
          <p:cNvSpPr>
            <a:spLocks noGrp="1"/>
          </p:cNvSpPr>
          <p:nvPr/>
        </p:nvSpPr>
        <p:spPr>
          <a:xfrm>
            <a:off x="1219200" y="2038350"/>
            <a:ext cx="2095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86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</a:t>
            </a:r>
            <a:endParaRPr sz="865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head-b"/>
          <p:cNvSpPr>
            <a:spLocks noGrp="1"/>
          </p:cNvSpPr>
          <p:nvPr/>
        </p:nvSpPr>
        <p:spPr>
          <a:xfrm>
            <a:off x="3486150" y="2038350"/>
            <a:ext cx="1714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86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根因</a:t>
            </a:r>
            <a:endParaRPr sz="865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head-c"/>
          <p:cNvSpPr>
            <a:spLocks noGrp="1"/>
          </p:cNvSpPr>
          <p:nvPr/>
        </p:nvSpPr>
        <p:spPr>
          <a:xfrm>
            <a:off x="5410200" y="2038350"/>
            <a:ext cx="1524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38100" tIns="19050" rIns="38100" bIns="19050" anchor="t"/>
          <a:lstStyle/>
          <a:p>
            <a:pPr algn="ctr">
              <a:defRPr sz="86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5" b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产品抓手</a:t>
            </a:r>
            <a:endParaRPr sz="865" b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pain-row-0"/>
          <p:cNvSpPr>
            <a:spLocks noGrp="1"/>
          </p:cNvSpPr>
          <p:nvPr/>
        </p:nvSpPr>
        <p:spPr>
          <a:xfrm>
            <a:off x="704850" y="2228850"/>
            <a:ext cx="6496050" cy="342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pain-no-0"/>
          <p:cNvSpPr>
            <a:spLocks noGrp="1"/>
          </p:cNvSpPr>
          <p:nvPr/>
        </p:nvSpPr>
        <p:spPr>
          <a:xfrm>
            <a:off x="819150" y="231457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4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in-title-0"/>
          <p:cNvSpPr>
            <a:spLocks noGrp="1"/>
          </p:cNvSpPr>
          <p:nvPr/>
        </p:nvSpPr>
        <p:spPr>
          <a:xfrm>
            <a:off x="1219200" y="2305050"/>
            <a:ext cx="209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无法确认是否有效</a:t>
            </a:r>
            <a:r>
              <a:rPr lang="en-US"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</a:t>
            </a:r>
            <a:r>
              <a:rPr lang="zh-CN" altLang="en-US"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</a:t>
            </a:r>
            <a:endParaRPr lang="zh-CN" altLang="en-US" sz="103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in-root-0"/>
          <p:cNvSpPr>
            <a:spLocks noGrp="1"/>
          </p:cNvSpPr>
          <p:nvPr/>
        </p:nvSpPr>
        <p:spPr>
          <a:xfrm>
            <a:off x="3486150" y="231457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缺少EMG量化与进展对比</a:t>
            </a:r>
            <a:endParaRPr sz="88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pain-solution-0"/>
          <p:cNvSpPr>
            <a:spLocks noGrp="1"/>
          </p:cNvSpPr>
          <p:nvPr/>
        </p:nvSpPr>
        <p:spPr>
          <a:xfrm>
            <a:off x="5410200" y="23145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88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r>
              <a:rPr lang="en-US" altLang="zh-CN" sz="88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</a:t>
            </a:r>
            <a:r>
              <a:rPr lang="zh-CN" altLang="en-US" sz="88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</a:t>
            </a:r>
            <a:endParaRPr lang="zh-CN" altLang="en-US" sz="885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pain-row-1"/>
          <p:cNvSpPr>
            <a:spLocks noGrp="1"/>
          </p:cNvSpPr>
          <p:nvPr/>
        </p:nvSpPr>
        <p:spPr>
          <a:xfrm>
            <a:off x="704850" y="2590800"/>
            <a:ext cx="64960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pain-no-1"/>
          <p:cNvSpPr>
            <a:spLocks noGrp="1"/>
          </p:cNvSpPr>
          <p:nvPr/>
        </p:nvSpPr>
        <p:spPr>
          <a:xfrm>
            <a:off x="819150" y="267652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4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pain-title-1"/>
          <p:cNvSpPr>
            <a:spLocks noGrp="1"/>
          </p:cNvSpPr>
          <p:nvPr/>
        </p:nvSpPr>
        <p:spPr>
          <a:xfrm>
            <a:off x="1141095" y="3400425"/>
            <a:ext cx="209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3-4周后放弃</a:t>
            </a:r>
            <a:endParaRPr sz="103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pain-root-1"/>
          <p:cNvSpPr>
            <a:spLocks noGrp="1"/>
          </p:cNvSpPr>
          <p:nvPr/>
        </p:nvSpPr>
        <p:spPr>
          <a:xfrm>
            <a:off x="3389630" y="341947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康复周期长 + 激励弱</a:t>
            </a:r>
            <a:endParaRPr sz="88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pain-solution-1"/>
          <p:cNvSpPr>
            <a:spLocks noGrp="1"/>
          </p:cNvSpPr>
          <p:nvPr/>
        </p:nvSpPr>
        <p:spPr>
          <a:xfrm>
            <a:off x="5361940" y="34194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即时奖励 + 动态难度</a:t>
            </a:r>
            <a:endParaRPr sz="885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pain-row-2"/>
          <p:cNvSpPr>
            <a:spLocks noGrp="1"/>
          </p:cNvSpPr>
          <p:nvPr/>
        </p:nvSpPr>
        <p:spPr>
          <a:xfrm>
            <a:off x="704850" y="2952750"/>
            <a:ext cx="6496050" cy="342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pain-no-2"/>
          <p:cNvSpPr>
            <a:spLocks noGrp="1"/>
          </p:cNvSpPr>
          <p:nvPr/>
        </p:nvSpPr>
        <p:spPr>
          <a:xfrm>
            <a:off x="819150" y="303847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40" b="1">
              <a:solidFill>
                <a:srgbClr val="4F46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pain-title-2"/>
          <p:cNvSpPr>
            <a:spLocks noGrp="1"/>
          </p:cNvSpPr>
          <p:nvPr/>
        </p:nvSpPr>
        <p:spPr>
          <a:xfrm>
            <a:off x="1219200" y="3028950"/>
            <a:ext cx="209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EMS刺激不舒适</a:t>
            </a:r>
            <a:endParaRPr sz="103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pain-root-2"/>
          <p:cNvSpPr>
            <a:spLocks noGrp="1"/>
          </p:cNvSpPr>
          <p:nvPr/>
        </p:nvSpPr>
        <p:spPr>
          <a:xfrm>
            <a:off x="3486150" y="303847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无闭环控制，手动调参</a:t>
            </a:r>
            <a:endParaRPr sz="88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pain-solution-2"/>
          <p:cNvSpPr>
            <a:spLocks noGrp="1"/>
          </p:cNvSpPr>
          <p:nvPr/>
        </p:nvSpPr>
        <p:spPr>
          <a:xfrm>
            <a:off x="5410200" y="30384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AI闭环强度调节</a:t>
            </a:r>
            <a:endParaRPr sz="885" b="1">
              <a:solidFill>
                <a:srgbClr val="4F46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pain-no-3"/>
          <p:cNvSpPr>
            <a:spLocks noGrp="1"/>
          </p:cNvSpPr>
          <p:nvPr/>
        </p:nvSpPr>
        <p:spPr>
          <a:xfrm>
            <a:off x="819150" y="340042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4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pain-title-3"/>
          <p:cNvSpPr>
            <a:spLocks noGrp="1"/>
          </p:cNvSpPr>
          <p:nvPr/>
        </p:nvSpPr>
        <p:spPr>
          <a:xfrm>
            <a:off x="1284605" y="2686050"/>
            <a:ext cx="209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连接不稳定</a:t>
            </a:r>
            <a:r>
              <a:rPr lang="en-US" altLang="zh-CN"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识别不</a:t>
            </a:r>
            <a:r>
              <a:rPr lang="zh-CN" altLang="en-US"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</a:t>
            </a:r>
            <a:endParaRPr lang="zh-CN" altLang="en-US" sz="103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pain-root-3"/>
          <p:cNvSpPr>
            <a:spLocks noGrp="1"/>
          </p:cNvSpPr>
          <p:nvPr/>
        </p:nvSpPr>
        <p:spPr>
          <a:xfrm>
            <a:off x="3551555" y="269557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蓝牙连接断续</a:t>
            </a:r>
            <a:r>
              <a:rPr lang="en-US" altLang="zh-CN"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动作姿态</a:t>
            </a:r>
            <a:r>
              <a:rPr lang="zh-CN" altLang="en-US"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</a:t>
            </a:r>
            <a:endParaRPr lang="zh-CN" altLang="en-US" sz="88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pain-solution-3"/>
          <p:cNvSpPr>
            <a:spLocks noGrp="1"/>
          </p:cNvSpPr>
          <p:nvPr/>
        </p:nvSpPr>
        <p:spPr>
          <a:xfrm>
            <a:off x="5475605" y="26955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88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蓝牙与</a:t>
            </a:r>
            <a:r>
              <a:rPr lang="zh-CN" sz="88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</a:t>
            </a:r>
            <a:endParaRPr lang="zh-CN" sz="88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pain-row-4"/>
          <p:cNvSpPr>
            <a:spLocks noGrp="1"/>
          </p:cNvSpPr>
          <p:nvPr/>
        </p:nvSpPr>
        <p:spPr>
          <a:xfrm>
            <a:off x="704850" y="3676650"/>
            <a:ext cx="6496050" cy="342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pain-no-4"/>
          <p:cNvSpPr>
            <a:spLocks noGrp="1"/>
          </p:cNvSpPr>
          <p:nvPr/>
        </p:nvSpPr>
        <p:spPr>
          <a:xfrm>
            <a:off x="819150" y="376237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4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pain-title-4"/>
          <p:cNvSpPr>
            <a:spLocks noGrp="1"/>
          </p:cNvSpPr>
          <p:nvPr/>
        </p:nvSpPr>
        <p:spPr>
          <a:xfrm>
            <a:off x="1219200" y="3752850"/>
            <a:ext cx="209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学习成本过高</a:t>
            </a:r>
            <a:endParaRPr sz="103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pain-root-4"/>
          <p:cNvSpPr>
            <a:spLocks noGrp="1"/>
          </p:cNvSpPr>
          <p:nvPr/>
        </p:nvSpPr>
        <p:spPr>
          <a:xfrm>
            <a:off x="3486150" y="376237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医疗设备式交互</a:t>
            </a:r>
            <a:endParaRPr sz="88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pain-solution-4"/>
          <p:cNvSpPr>
            <a:spLocks noGrp="1"/>
          </p:cNvSpPr>
          <p:nvPr/>
        </p:nvSpPr>
        <p:spPr>
          <a:xfrm>
            <a:off x="5410200" y="37623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消费级引导流程</a:t>
            </a:r>
            <a:endParaRPr sz="88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pain-row-5"/>
          <p:cNvSpPr>
            <a:spLocks noGrp="1"/>
          </p:cNvSpPr>
          <p:nvPr/>
        </p:nvSpPr>
        <p:spPr>
          <a:xfrm>
            <a:off x="704850" y="4038600"/>
            <a:ext cx="64960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pain-no-5"/>
          <p:cNvSpPr>
            <a:spLocks noGrp="1"/>
          </p:cNvSpPr>
          <p:nvPr/>
        </p:nvSpPr>
        <p:spPr>
          <a:xfrm>
            <a:off x="819150" y="412432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4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pain-title-5"/>
          <p:cNvSpPr>
            <a:spLocks noGrp="1"/>
          </p:cNvSpPr>
          <p:nvPr/>
        </p:nvSpPr>
        <p:spPr>
          <a:xfrm>
            <a:off x="1219200" y="4114800"/>
            <a:ext cx="209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医学可信度不足</a:t>
            </a:r>
            <a:endParaRPr sz="103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pain-root-5"/>
          <p:cNvSpPr>
            <a:spLocks noGrp="1"/>
          </p:cNvSpPr>
          <p:nvPr/>
        </p:nvSpPr>
        <p:spPr>
          <a:xfrm>
            <a:off x="3486150" y="412432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缺临床数据与认证感知</a:t>
            </a:r>
            <a:endParaRPr sz="88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pain-solution-5"/>
          <p:cNvSpPr>
            <a:spLocks noGrp="1"/>
          </p:cNvSpPr>
          <p:nvPr/>
        </p:nvSpPr>
        <p:spPr>
          <a:xfrm>
            <a:off x="5410200" y="41243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医疗级指标/背书</a:t>
            </a:r>
            <a:endParaRPr sz="885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pain-row-6"/>
          <p:cNvSpPr>
            <a:spLocks noGrp="1"/>
          </p:cNvSpPr>
          <p:nvPr/>
        </p:nvSpPr>
        <p:spPr>
          <a:xfrm>
            <a:off x="704850" y="4400550"/>
            <a:ext cx="6496050" cy="342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pain-no-6"/>
          <p:cNvSpPr>
            <a:spLocks noGrp="1"/>
          </p:cNvSpPr>
          <p:nvPr/>
        </p:nvSpPr>
        <p:spPr>
          <a:xfrm>
            <a:off x="819150" y="448627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40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pain-title-6"/>
          <p:cNvSpPr>
            <a:spLocks noGrp="1"/>
          </p:cNvSpPr>
          <p:nvPr/>
        </p:nvSpPr>
        <p:spPr>
          <a:xfrm>
            <a:off x="1219200" y="4476750"/>
            <a:ext cx="209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探头异物感不适</a:t>
            </a:r>
            <a:endParaRPr sz="103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pain-root-6"/>
          <p:cNvSpPr>
            <a:spLocks noGrp="1"/>
          </p:cNvSpPr>
          <p:nvPr/>
        </p:nvSpPr>
        <p:spPr>
          <a:xfrm>
            <a:off x="3486150" y="448627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结构/材质/清洁门槛</a:t>
            </a:r>
            <a:endParaRPr sz="88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pain-solution-6"/>
          <p:cNvSpPr>
            <a:spLocks noGrp="1"/>
          </p:cNvSpPr>
          <p:nvPr/>
        </p:nvSpPr>
        <p:spPr>
          <a:xfrm>
            <a:off x="5410200" y="44862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EA58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人体工学+柔性材料</a:t>
            </a:r>
            <a:endParaRPr sz="885" b="1">
              <a:solidFill>
                <a:srgbClr val="EA58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pain-row-7"/>
          <p:cNvSpPr>
            <a:spLocks noGrp="1"/>
          </p:cNvSpPr>
          <p:nvPr/>
        </p:nvSpPr>
        <p:spPr>
          <a:xfrm>
            <a:off x="704850" y="4762500"/>
            <a:ext cx="64960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pain-no-7"/>
          <p:cNvSpPr>
            <a:spLocks noGrp="1"/>
          </p:cNvSpPr>
          <p:nvPr/>
        </p:nvSpPr>
        <p:spPr>
          <a:xfrm>
            <a:off x="819150" y="484822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940" b="1">
              <a:solidFill>
                <a:srgbClr val="4F46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pain-title-7"/>
          <p:cNvSpPr>
            <a:spLocks noGrp="1"/>
          </p:cNvSpPr>
          <p:nvPr/>
        </p:nvSpPr>
        <p:spPr>
          <a:xfrm>
            <a:off x="1219200" y="4838700"/>
            <a:ext cx="209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反馈太游戏化</a:t>
            </a:r>
            <a:endParaRPr sz="103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pain-root-7"/>
          <p:cNvSpPr>
            <a:spLocks noGrp="1"/>
          </p:cNvSpPr>
          <p:nvPr/>
        </p:nvSpPr>
        <p:spPr>
          <a:xfrm>
            <a:off x="3486150" y="484822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分数无医学意义</a:t>
            </a:r>
            <a:endParaRPr sz="88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pain-solution-7"/>
          <p:cNvSpPr>
            <a:spLocks noGrp="1"/>
          </p:cNvSpPr>
          <p:nvPr/>
        </p:nvSpPr>
        <p:spPr>
          <a:xfrm>
            <a:off x="5410200" y="48482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肌力/耐力/控制指标</a:t>
            </a:r>
            <a:endParaRPr sz="885" b="1">
              <a:solidFill>
                <a:srgbClr val="4F46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pain-row-8"/>
          <p:cNvSpPr>
            <a:spLocks noGrp="1"/>
          </p:cNvSpPr>
          <p:nvPr/>
        </p:nvSpPr>
        <p:spPr>
          <a:xfrm>
            <a:off x="704850" y="5124450"/>
            <a:ext cx="6496050" cy="3429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pain-no-8"/>
          <p:cNvSpPr>
            <a:spLocks noGrp="1"/>
          </p:cNvSpPr>
          <p:nvPr/>
        </p:nvSpPr>
        <p:spPr>
          <a:xfrm>
            <a:off x="819150" y="521017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94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pain-title-8"/>
          <p:cNvSpPr>
            <a:spLocks noGrp="1"/>
          </p:cNvSpPr>
          <p:nvPr/>
        </p:nvSpPr>
        <p:spPr>
          <a:xfrm>
            <a:off x="1219200" y="5200650"/>
            <a:ext cx="209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个体差异无法适配</a:t>
            </a:r>
            <a:endParaRPr sz="103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pain-root-8"/>
          <p:cNvSpPr>
            <a:spLocks noGrp="1"/>
          </p:cNvSpPr>
          <p:nvPr/>
        </p:nvSpPr>
        <p:spPr>
          <a:xfrm>
            <a:off x="3486150" y="521017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无个体EMG建模</a:t>
            </a:r>
            <a:endParaRPr sz="88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pain-solution-8"/>
          <p:cNvSpPr>
            <a:spLocks noGrp="1"/>
          </p:cNvSpPr>
          <p:nvPr/>
        </p:nvSpPr>
        <p:spPr>
          <a:xfrm>
            <a:off x="5410200" y="521017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adaptive therapy</a:t>
            </a:r>
            <a:endParaRPr sz="885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pain-row-9"/>
          <p:cNvSpPr>
            <a:spLocks noGrp="1"/>
          </p:cNvSpPr>
          <p:nvPr/>
        </p:nvSpPr>
        <p:spPr>
          <a:xfrm>
            <a:off x="704850" y="5486400"/>
            <a:ext cx="64960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6" name="pain-no-9"/>
          <p:cNvSpPr>
            <a:spLocks noGrp="1"/>
          </p:cNvSpPr>
          <p:nvPr/>
        </p:nvSpPr>
        <p:spPr>
          <a:xfrm>
            <a:off x="819150" y="5572125"/>
            <a:ext cx="285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94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94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pain-title-9"/>
          <p:cNvSpPr>
            <a:spLocks noGrp="1"/>
          </p:cNvSpPr>
          <p:nvPr/>
        </p:nvSpPr>
        <p:spPr>
          <a:xfrm>
            <a:off x="1219200" y="5562600"/>
            <a:ext cx="2095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周期长且无路径感</a:t>
            </a:r>
            <a:endParaRPr sz="1035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pain-root-9"/>
          <p:cNvSpPr>
            <a:spLocks noGrp="1"/>
          </p:cNvSpPr>
          <p:nvPr/>
        </p:nvSpPr>
        <p:spPr>
          <a:xfrm>
            <a:off x="3486150" y="5572125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无分层protocol</a:t>
            </a:r>
            <a:endParaRPr sz="88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pain-solution-9"/>
          <p:cNvSpPr>
            <a:spLocks noGrp="1"/>
          </p:cNvSpPr>
          <p:nvPr/>
        </p:nvSpPr>
        <p:spPr>
          <a:xfrm>
            <a:off x="5410200" y="5572125"/>
            <a:ext cx="15240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88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85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progressive rehab模型</a:t>
            </a:r>
            <a:endParaRPr sz="885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ight-title"/>
          <p:cNvSpPr>
            <a:spLocks noGrp="1"/>
          </p:cNvSpPr>
          <p:nvPr/>
        </p:nvSpPr>
        <p:spPr>
          <a:xfrm>
            <a:off x="8150860" y="17335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结构性总结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summary-0"/>
          <p:cNvSpPr>
            <a:spLocks noGrp="1"/>
          </p:cNvSpPr>
          <p:nvPr/>
        </p:nvSpPr>
        <p:spPr>
          <a:xfrm>
            <a:off x="7848600" y="2152650"/>
            <a:ext cx="3619500" cy="933450"/>
          </a:xfrm>
          <a:prstGeom prst="roundRect">
            <a:avLst>
              <a:gd name="adj" fmla="val 8163"/>
            </a:avLst>
          </a:prstGeom>
          <a:solidFill>
            <a:srgbClr val="FEF2F2"/>
          </a:solidFill>
          <a:ln w="12383">
            <a:solidFill>
              <a:srgbClr val="DC2626"/>
            </a:solidFill>
            <a:prstDash val="solid"/>
          </a:ln>
        </p:spPr>
      </p:sp>
      <p:sp>
        <p:nvSpPr>
          <p:cNvPr id="62" name="summary-no-0"/>
          <p:cNvSpPr>
            <a:spLocks noGrp="1"/>
          </p:cNvSpPr>
          <p:nvPr/>
        </p:nvSpPr>
        <p:spPr>
          <a:xfrm>
            <a:off x="8020050" y="22860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20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summary-title-0"/>
          <p:cNvSpPr>
            <a:spLocks noGrp="1"/>
          </p:cNvSpPr>
          <p:nvPr/>
        </p:nvSpPr>
        <p:spPr>
          <a:xfrm>
            <a:off x="8534400" y="22764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没有闭环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summary-body-0"/>
          <p:cNvSpPr>
            <a:spLocks noGrp="1"/>
          </p:cNvSpPr>
          <p:nvPr/>
        </p:nvSpPr>
        <p:spPr>
          <a:xfrm>
            <a:off x="8115300" y="2609850"/>
            <a:ext cx="3086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1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 EMG → EMS 的反馈控制系统，用户无法确认是否真的恢复。</a:t>
            </a:r>
            <a:endParaRPr sz="101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summary-1"/>
          <p:cNvSpPr>
            <a:spLocks noGrp="1"/>
          </p:cNvSpPr>
          <p:nvPr/>
        </p:nvSpPr>
        <p:spPr>
          <a:xfrm>
            <a:off x="7848600" y="3219450"/>
            <a:ext cx="3619500" cy="933450"/>
          </a:xfrm>
          <a:prstGeom prst="roundRect">
            <a:avLst>
              <a:gd name="adj" fmla="val 8163"/>
            </a:avLst>
          </a:prstGeom>
          <a:solidFill>
            <a:srgbClr val="EEF2FF"/>
          </a:solidFill>
          <a:ln w="12383">
            <a:solidFill>
              <a:srgbClr val="4F46E5"/>
            </a:solidFill>
            <a:prstDash val="solid"/>
          </a:ln>
        </p:spPr>
      </p:sp>
      <p:sp>
        <p:nvSpPr>
          <p:cNvPr id="66" name="summary-no-1"/>
          <p:cNvSpPr>
            <a:spLocks noGrp="1"/>
          </p:cNvSpPr>
          <p:nvPr/>
        </p:nvSpPr>
        <p:spPr>
          <a:xfrm>
            <a:off x="8020050" y="33528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4F46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1">
              <a:solidFill>
                <a:srgbClr val="4F46E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summary-title-1"/>
          <p:cNvSpPr>
            <a:spLocks noGrp="1"/>
          </p:cNvSpPr>
          <p:nvPr/>
        </p:nvSpPr>
        <p:spPr>
          <a:xfrm>
            <a:off x="8534400" y="33432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没有个体化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summary-body-1"/>
          <p:cNvSpPr>
            <a:spLocks noGrp="1"/>
          </p:cNvSpPr>
          <p:nvPr/>
        </p:nvSpPr>
        <p:spPr>
          <a:xfrm>
            <a:off x="8115300" y="3676650"/>
            <a:ext cx="3086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1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所有人使用同一套强度与方案，产后、更年期、轻重症反应完全不同。</a:t>
            </a:r>
            <a:endParaRPr sz="101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summary-2"/>
          <p:cNvSpPr>
            <a:spLocks noGrp="1"/>
          </p:cNvSpPr>
          <p:nvPr/>
        </p:nvSpPr>
        <p:spPr>
          <a:xfrm>
            <a:off x="7848600" y="4286250"/>
            <a:ext cx="3619500" cy="933450"/>
          </a:xfrm>
          <a:prstGeom prst="roundRect">
            <a:avLst>
              <a:gd name="adj" fmla="val 8163"/>
            </a:avLst>
          </a:prstGeom>
          <a:solidFill>
            <a:srgbClr val="ECFEFF"/>
          </a:solidFill>
          <a:ln w="12383">
            <a:solidFill>
              <a:srgbClr val="0891B2"/>
            </a:solidFill>
            <a:prstDash val="solid"/>
          </a:ln>
        </p:spPr>
      </p:sp>
      <p:sp>
        <p:nvSpPr>
          <p:cNvPr id="70" name="summary-no-2"/>
          <p:cNvSpPr>
            <a:spLocks noGrp="1"/>
          </p:cNvSpPr>
          <p:nvPr/>
        </p:nvSpPr>
        <p:spPr>
          <a:xfrm>
            <a:off x="8020050" y="441960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891B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1">
              <a:solidFill>
                <a:srgbClr val="0891B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summary-title-2"/>
          <p:cNvSpPr>
            <a:spLocks noGrp="1"/>
          </p:cNvSpPr>
          <p:nvPr/>
        </p:nvSpPr>
        <p:spPr>
          <a:xfrm>
            <a:off x="8534400" y="441007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没有医疗级结果可视化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summary-body-2"/>
          <p:cNvSpPr>
            <a:spLocks noGrp="1"/>
          </p:cNvSpPr>
          <p:nvPr/>
        </p:nvSpPr>
        <p:spPr>
          <a:xfrm>
            <a:off x="8115300" y="4743450"/>
            <a:ext cx="3086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01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15" b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用户看到的是打卡或游戏分数，而不是可信的康复指标和路径。</a:t>
            </a:r>
            <a:endParaRPr sz="1015" b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footer"/>
          <p:cNvSpPr>
            <a:spLocks noGrp="1"/>
          </p:cNvSpPr>
          <p:nvPr/>
        </p:nvSpPr>
        <p:spPr>
          <a:xfrm>
            <a:off x="495300" y="6248400"/>
            <a:ext cx="11201400" cy="361950"/>
          </a:xfrm>
          <a:prstGeom prst="roundRect">
            <a:avLst>
              <a:gd name="adj" fmla="val 2105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77" name="footer-text"/>
          <p:cNvSpPr>
            <a:spLocks noGrp="1"/>
          </p:cNvSpPr>
          <p:nvPr/>
        </p:nvSpPr>
        <p:spPr>
          <a:xfrm>
            <a:off x="800100" y="6353175"/>
            <a:ext cx="10591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+EMS</a:t>
            </a: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量化改善 + AI闭环调节 + 医疗级结果可视化，直接攻击家用盆底康复最大痛点。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48640" y="1065530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产品规划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6310" y="3931920"/>
            <a:ext cx="916559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FA8A3"/>
                </a:solidFill>
                <a:latin typeface="微软雅黑" panose="020B0503020204020204" charset="-122"/>
              </a:defRPr>
            </a:pPr>
            <a:r>
              <a:rPr>
                <a:sym typeface="+mn-ea"/>
              </a:rPr>
              <a:t>系统对比 </a:t>
            </a:r>
            <a:r>
              <a:t> · 产品</a:t>
            </a:r>
            <a:r>
              <a:rPr lang="zh-CN"/>
              <a:t>定义</a:t>
            </a:r>
            <a:endParaRPr lang="zh-CN"/>
          </a:p>
        </p:txBody>
      </p:sp>
      <p:sp>
        <p:nvSpPr>
          <p:cNvPr id="6" name="Rectangle 5"/>
          <p:cNvSpPr/>
          <p:nvPr/>
        </p:nvSpPr>
        <p:spPr>
          <a:xfrm>
            <a:off x="1097280" y="3749039"/>
            <a:ext cx="2743200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/>
        </p:nvSpPr>
        <p:spPr>
          <a:xfrm>
            <a:off x="344805" y="365125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盆底肌训练器</a:t>
            </a:r>
            <a:r>
              <a:rPr lang="zh-CN" sz="2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系统对比</a:t>
            </a:r>
            <a:endParaRPr lang="zh-CN" sz="2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0690" y="819785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ChatGPT Image 2026年7月3日 17_58_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3210" y="879475"/>
            <a:ext cx="8564880" cy="596074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"/>
          <p:cNvSpPr>
            <a:spLocks noGrp="1"/>
          </p:cNvSpPr>
          <p:nvPr/>
        </p:nvSpPr>
        <p:spPr>
          <a:xfrm>
            <a:off x="363220" y="281940"/>
            <a:ext cx="1000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r>
              <a:rPr lang="zh-CN" sz="2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</a:t>
            </a:r>
            <a:endParaRPr lang="zh-CN" sz="28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2982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7"/>
          <p:cNvSpPr/>
          <p:nvPr/>
        </p:nvSpPr>
        <p:spPr>
          <a:xfrm>
            <a:off x="405130" y="831215"/>
            <a:ext cx="10789920" cy="22860"/>
          </a:xfrm>
          <a:prstGeom prst="rect">
            <a:avLst/>
          </a:prstGeom>
          <a:solidFill>
            <a:srgbClr val="D4E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 descr="ChatGPT Image 2026年7月3日 18_20_11"/>
          <p:cNvPicPr>
            <a:picLocks noChangeAspect="1"/>
          </p:cNvPicPr>
          <p:nvPr/>
        </p:nvPicPr>
        <p:blipFill>
          <a:blip r:embed="rId1"/>
          <a:srcRect t="7318" r="-4240"/>
          <a:stretch>
            <a:fillRect/>
          </a:stretch>
        </p:blipFill>
        <p:spPr>
          <a:xfrm>
            <a:off x="480695" y="1622425"/>
            <a:ext cx="5022850" cy="446659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990" y="3816350"/>
            <a:ext cx="1710055" cy="1428750"/>
          </a:xfrm>
          <a:prstGeom prst="rect">
            <a:avLst/>
          </a:prstGeom>
        </p:spPr>
      </p:pic>
      <p:sp>
        <p:nvSpPr>
          <p:cNvPr id="18" name="Rounded Rectangle 6"/>
          <p:cNvSpPr/>
          <p:nvPr/>
        </p:nvSpPr>
        <p:spPr>
          <a:xfrm>
            <a:off x="6463030" y="1083945"/>
            <a:ext cx="4812030" cy="52705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7"/>
          <p:cNvSpPr txBox="1"/>
          <p:nvPr/>
        </p:nvSpPr>
        <p:spPr>
          <a:xfrm>
            <a:off x="6463030" y="1281430"/>
            <a:ext cx="3157855" cy="202565"/>
          </a:xfrm>
          <a:prstGeom prst="rect">
            <a:avLst/>
          </a:prstGeom>
          <a:noFill/>
        </p:spPr>
        <p:txBody>
          <a:bodyPr wrap="none" lIns="228600" tIns="0" rIns="13716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🟡</a:t>
            </a:r>
            <a:r>
              <a:rPr 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</a:t>
            </a: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物反馈</a:t>
            </a:r>
            <a:r>
              <a:rPr 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电刺激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+AI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8"/>
          <p:cNvSpPr/>
          <p:nvPr>
            <p:custDataLst>
              <p:tags r:id="rId3"/>
            </p:custDataLst>
          </p:nvPr>
        </p:nvSpPr>
        <p:spPr>
          <a:xfrm>
            <a:off x="6463030" y="1713865"/>
            <a:ext cx="4853305" cy="100774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9"/>
          <p:cNvSpPr/>
          <p:nvPr>
            <p:custDataLst>
              <p:tags r:id="rId4"/>
            </p:custDataLst>
          </p:nvPr>
        </p:nvSpPr>
        <p:spPr>
          <a:xfrm>
            <a:off x="6463030" y="1713865"/>
            <a:ext cx="76200" cy="100774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10"/>
          <p:cNvSpPr/>
          <p:nvPr>
            <p:custDataLst>
              <p:tags r:id="rId5"/>
            </p:custDataLst>
          </p:nvPr>
        </p:nvSpPr>
        <p:spPr>
          <a:xfrm>
            <a:off x="6627495" y="1832610"/>
            <a:ext cx="318770" cy="3835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11"/>
          <p:cNvSpPr txBox="1"/>
          <p:nvPr>
            <p:custDataLst>
              <p:tags r:id="rId6"/>
            </p:custDataLst>
          </p:nvPr>
        </p:nvSpPr>
        <p:spPr>
          <a:xfrm>
            <a:off x="7029450" y="1805305"/>
            <a:ext cx="1671955" cy="2393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lang="zh-CN"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一体化无线</a:t>
            </a:r>
            <a:r>
              <a:rPr lang="zh-CN"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外观</a:t>
            </a:r>
            <a:endParaRPr lang="zh-CN" sz="1300" b="1">
              <a:solidFill>
                <a:srgbClr val="0A4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12"/>
          <p:cNvSpPr txBox="1"/>
          <p:nvPr>
            <p:custDataLst>
              <p:tags r:id="rId7"/>
            </p:custDataLst>
          </p:nvPr>
        </p:nvSpPr>
        <p:spPr>
          <a:xfrm>
            <a:off x="7038975" y="2066290"/>
            <a:ext cx="4300855" cy="3359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参考Elvie、</a:t>
            </a: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Perifit外观</a:t>
            </a:r>
            <a:endParaRPr lang="zh-CN" alt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无外置主机智能</a:t>
            </a: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探头</a:t>
            </a:r>
            <a:endParaRPr lang="zh-CN" alt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" name="Rounded Rectangle 13"/>
          <p:cNvSpPr/>
          <p:nvPr>
            <p:custDataLst>
              <p:tags r:id="rId8"/>
            </p:custDataLst>
          </p:nvPr>
        </p:nvSpPr>
        <p:spPr>
          <a:xfrm>
            <a:off x="6463030" y="2600960"/>
            <a:ext cx="4853305" cy="100774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14"/>
          <p:cNvSpPr/>
          <p:nvPr>
            <p:custDataLst>
              <p:tags r:id="rId9"/>
            </p:custDataLst>
          </p:nvPr>
        </p:nvSpPr>
        <p:spPr>
          <a:xfrm>
            <a:off x="6463030" y="2600960"/>
            <a:ext cx="76200" cy="100774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15"/>
          <p:cNvSpPr/>
          <p:nvPr>
            <p:custDataLst>
              <p:tags r:id="rId10"/>
            </p:custDataLst>
          </p:nvPr>
        </p:nvSpPr>
        <p:spPr>
          <a:xfrm>
            <a:off x="6627495" y="2719705"/>
            <a:ext cx="318770" cy="3835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16"/>
          <p:cNvSpPr txBox="1"/>
          <p:nvPr>
            <p:custDataLst>
              <p:tags r:id="rId11"/>
            </p:custDataLst>
          </p:nvPr>
        </p:nvSpPr>
        <p:spPr>
          <a:xfrm>
            <a:off x="7029450" y="2692400"/>
            <a:ext cx="2000885" cy="2393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lang="zh-CN"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</a:t>
            </a:r>
            <a:endParaRPr lang="zh-CN" sz="1300" b="1">
              <a:solidFill>
                <a:srgbClr val="0A4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17"/>
          <p:cNvSpPr txBox="1"/>
          <p:nvPr>
            <p:custDataLst>
              <p:tags r:id="rId12"/>
            </p:custDataLst>
          </p:nvPr>
        </p:nvSpPr>
        <p:spPr>
          <a:xfrm>
            <a:off x="7068820" y="2929255"/>
            <a:ext cx="4271645" cy="46164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</a:t>
            </a:r>
            <a:r>
              <a:rPr lang="zh-CN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肌电、</a:t>
            </a: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压阻式传感</a:t>
            </a:r>
            <a:endParaRPr lang="zh-CN" alt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IMU惯性运动传感器</a:t>
            </a:r>
            <a:endParaRPr 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18"/>
          <p:cNvSpPr/>
          <p:nvPr>
            <p:custDataLst>
              <p:tags r:id="rId13"/>
            </p:custDataLst>
          </p:nvPr>
        </p:nvSpPr>
        <p:spPr>
          <a:xfrm>
            <a:off x="6463030" y="3488055"/>
            <a:ext cx="4853305" cy="100774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19"/>
          <p:cNvSpPr/>
          <p:nvPr>
            <p:custDataLst>
              <p:tags r:id="rId14"/>
            </p:custDataLst>
          </p:nvPr>
        </p:nvSpPr>
        <p:spPr>
          <a:xfrm>
            <a:off x="6463030" y="3488055"/>
            <a:ext cx="76200" cy="100774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20"/>
          <p:cNvSpPr/>
          <p:nvPr>
            <p:custDataLst>
              <p:tags r:id="rId15"/>
            </p:custDataLst>
          </p:nvPr>
        </p:nvSpPr>
        <p:spPr>
          <a:xfrm>
            <a:off x="6627495" y="3606800"/>
            <a:ext cx="318770" cy="3835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21"/>
          <p:cNvSpPr txBox="1"/>
          <p:nvPr>
            <p:custDataLst>
              <p:tags r:id="rId16"/>
            </p:custDataLst>
          </p:nvPr>
        </p:nvSpPr>
        <p:spPr>
          <a:xfrm>
            <a:off x="7029450" y="3579495"/>
            <a:ext cx="1802765" cy="2393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</a:t>
            </a:r>
            <a:r>
              <a:rPr lang="zh-CN"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电刺激</a:t>
            </a:r>
            <a:endParaRPr lang="zh-CN" sz="1300" b="1">
              <a:solidFill>
                <a:srgbClr val="0A4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22"/>
          <p:cNvSpPr txBox="1"/>
          <p:nvPr>
            <p:custDataLst>
              <p:tags r:id="rId17"/>
            </p:custDataLst>
          </p:nvPr>
        </p:nvSpPr>
        <p:spPr>
          <a:xfrm>
            <a:off x="6955346" y="3816096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AI动态调节EMS</a:t>
            </a:r>
            <a:endParaRPr lang="zh-CN" alt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强度/频率/脉宽/波形</a:t>
            </a: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/节奏</a:t>
            </a:r>
            <a:endParaRPr lang="zh-CN" alt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endParaRPr 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23"/>
          <p:cNvSpPr/>
          <p:nvPr>
            <p:custDataLst>
              <p:tags r:id="rId18"/>
            </p:custDataLst>
          </p:nvPr>
        </p:nvSpPr>
        <p:spPr>
          <a:xfrm>
            <a:off x="6463030" y="4374515"/>
            <a:ext cx="4853305" cy="100774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24"/>
          <p:cNvSpPr/>
          <p:nvPr>
            <p:custDataLst>
              <p:tags r:id="rId19"/>
            </p:custDataLst>
          </p:nvPr>
        </p:nvSpPr>
        <p:spPr>
          <a:xfrm>
            <a:off x="6463030" y="4374515"/>
            <a:ext cx="76200" cy="100774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Oval 25"/>
          <p:cNvSpPr/>
          <p:nvPr>
            <p:custDataLst>
              <p:tags r:id="rId20"/>
            </p:custDataLst>
          </p:nvPr>
        </p:nvSpPr>
        <p:spPr>
          <a:xfrm>
            <a:off x="6627495" y="4493895"/>
            <a:ext cx="318770" cy="3835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26"/>
          <p:cNvSpPr txBox="1"/>
          <p:nvPr>
            <p:custDataLst>
              <p:tags r:id="rId21"/>
            </p:custDataLst>
          </p:nvPr>
        </p:nvSpPr>
        <p:spPr>
          <a:xfrm>
            <a:off x="7029450" y="4465955"/>
            <a:ext cx="2188845" cy="2393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</a:t>
            </a:r>
            <a:r>
              <a:rPr lang="zh-CN"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蓝牙</a:t>
            </a:r>
            <a:r>
              <a:rPr lang="en-US" altLang="zh-CN"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通信</a:t>
            </a:r>
            <a:r>
              <a:rPr lang="zh-CN" altLang="en-US"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</a:t>
            </a:r>
            <a:endParaRPr lang="zh-CN" altLang="en-US" sz="1300" b="1">
              <a:solidFill>
                <a:srgbClr val="0A4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27"/>
          <p:cNvSpPr txBox="1"/>
          <p:nvPr>
            <p:custDataLst>
              <p:tags r:id="rId22"/>
            </p:custDataLst>
          </p:nvPr>
        </p:nvSpPr>
        <p:spPr>
          <a:xfrm>
            <a:off x="7038975" y="4702810"/>
            <a:ext cx="4366260" cy="4972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蓝牙BLE 5.2</a:t>
            </a:r>
            <a:endParaRPr lang="zh-CN" alt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EMG实时数据传输、EMS参数下发</a:t>
            </a:r>
            <a:endParaRPr lang="zh-CN" alt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固件OTA升级、练数据同步</a:t>
            </a:r>
            <a:endParaRPr lang="zh-CN" alt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ounded Rectangle 28"/>
          <p:cNvSpPr/>
          <p:nvPr>
            <p:custDataLst>
              <p:tags r:id="rId23"/>
            </p:custDataLst>
          </p:nvPr>
        </p:nvSpPr>
        <p:spPr>
          <a:xfrm>
            <a:off x="6463030" y="5261610"/>
            <a:ext cx="4853305" cy="100774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29"/>
          <p:cNvSpPr/>
          <p:nvPr>
            <p:custDataLst>
              <p:tags r:id="rId24"/>
            </p:custDataLst>
          </p:nvPr>
        </p:nvSpPr>
        <p:spPr>
          <a:xfrm>
            <a:off x="6463030" y="5261610"/>
            <a:ext cx="76200" cy="100774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Oval 30"/>
          <p:cNvSpPr/>
          <p:nvPr>
            <p:custDataLst>
              <p:tags r:id="rId25"/>
            </p:custDataLst>
          </p:nvPr>
        </p:nvSpPr>
        <p:spPr>
          <a:xfrm>
            <a:off x="6627495" y="5380355"/>
            <a:ext cx="318770" cy="3835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31"/>
          <p:cNvSpPr txBox="1"/>
          <p:nvPr>
            <p:custDataLst>
              <p:tags r:id="rId26"/>
            </p:custDataLst>
          </p:nvPr>
        </p:nvSpPr>
        <p:spPr>
          <a:xfrm>
            <a:off x="7029450" y="5353050"/>
            <a:ext cx="1369695" cy="23939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</a:t>
            </a:r>
            <a:r>
              <a:rPr lang="en-US"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/</a:t>
            </a:r>
            <a:r>
              <a:rPr sz="1300" b="1">
                <a:solidFill>
                  <a:srgbClr val="0A4F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App</a:t>
            </a:r>
            <a:endParaRPr sz="1300" b="1">
              <a:solidFill>
                <a:srgbClr val="0A4F4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32"/>
          <p:cNvSpPr txBox="1"/>
          <p:nvPr>
            <p:custDataLst>
              <p:tags r:id="rId27"/>
            </p:custDataLst>
          </p:nvPr>
        </p:nvSpPr>
        <p:spPr>
          <a:xfrm>
            <a:off x="6955346" y="5590667"/>
            <a:ext cx="5257800" cy="5124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可视化训练界面 / 游戏化</a:t>
            </a:r>
            <a:endParaRPr 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</a:t>
            </a:r>
            <a:r>
              <a:rPr lang="zh-CN" alt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</a:t>
            </a:r>
            <a:r>
              <a:rPr 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分析系统</a:t>
            </a:r>
            <a:endParaRPr 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训练控制系统、数据、云端系统</a:t>
            </a:r>
            <a:endParaRPr lang="en-US" sz="1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E8A838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17520"/>
            <a:ext cx="9144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竞品拆解</a:t>
            </a:r>
            <a:r>
              <a:t>分析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749039"/>
            <a:ext cx="2743200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感谢观看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00400"/>
            <a:ext cx="3657600" cy="4572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2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3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4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5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6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7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8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9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10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11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12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13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14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15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16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17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18.xml><?xml version="1.0" encoding="utf-8"?>
<p:tagLst xmlns:p="http://schemas.openxmlformats.org/presentationml/2006/main">
  <p:tag name="KSO_WM_DIAGRAM_VIRTUALLY_FRAME" val="{&quot;height&quot;:371.75,&quot;left&quot;:72,&quot;top&quot;:93.6,&quot;width&quot;:864}"/>
</p:tagLst>
</file>

<file path=ppt/tags/tag19.xml><?xml version="1.0" encoding="utf-8"?>
<p:tagLst xmlns:p="http://schemas.openxmlformats.org/presentationml/2006/main">
  <p:tag name="KSO_WM_DIAGRAM_VIRTUALLY_FRAME" val="{&quot;height&quot;:373.7,&quot;left&quot;:540,&quot;top&quot;:86.4,&quot;width&quot;:329.2}"/>
</p:tagLst>
</file>

<file path=ppt/tags/tag20.xml><?xml version="1.0" encoding="utf-8"?>
<p:tagLst xmlns:p="http://schemas.openxmlformats.org/presentationml/2006/main">
  <p:tag name="KSO_WM_DIAGRAM_VIRTUALLY_FRAME" val="{&quot;height&quot;:373.7,&quot;left&quot;:540,&quot;top&quot;:86.4,&quot;width&quot;:329.2}"/>
</p:tagLst>
</file>

<file path=ppt/tags/tag21.xml><?xml version="1.0" encoding="utf-8"?>
<p:tagLst xmlns:p="http://schemas.openxmlformats.org/presentationml/2006/main">
  <p:tag name="KSO_WM_DIAGRAM_VIRTUALLY_FRAME" val="{&quot;height&quot;:373.7,&quot;left&quot;:540,&quot;top&quot;:86.4,&quot;width&quot;:329.2}"/>
</p:tagLst>
</file>

<file path=ppt/tags/tag22.xml><?xml version="1.0" encoding="utf-8"?>
<p:tagLst xmlns:p="http://schemas.openxmlformats.org/presentationml/2006/main">
  <p:tag name="KSO_WM_DIAGRAM_VIRTUALLY_FRAME" val="{&quot;height&quot;:373.7,&quot;left&quot;:540,&quot;top&quot;:86.4,&quot;width&quot;:329.2}"/>
</p:tagLst>
</file>

<file path=ppt/tags/tag23.xml><?xml version="1.0" encoding="utf-8"?>
<p:tagLst xmlns:p="http://schemas.openxmlformats.org/presentationml/2006/main">
  <p:tag name="KSO_WM_DIAGRAM_VIRTUALLY_FRAME" val="{&quot;height&quot;:373.7,&quot;left&quot;:540,&quot;top&quot;:86.4,&quot;width&quot;:329.2}"/>
</p:tagLst>
</file>

<file path=ppt/tags/tag24.xml><?xml version="1.0" encoding="utf-8"?>
<p:tagLst xmlns:p="http://schemas.openxmlformats.org/presentationml/2006/main">
  <p:tag name="KSO_WM_DIAGRAM_VIRTUALLY_FRAME" val="{&quot;height&quot;:373.7,&quot;left&quot;:540,&quot;top&quot;:86.4,&quot;width&quot;:329.2}"/>
</p:tagLst>
</file>

<file path=ppt/tags/tag25.xml><?xml version="1.0" encoding="utf-8"?>
<p:tagLst xmlns:p="http://schemas.openxmlformats.org/presentationml/2006/main">
  <p:tag name="KSO_WM_DIAGRAM_VIRTUALLY_FRAME" val="{&quot;height&quot;:373.7,&quot;left&quot;:540,&quot;top&quot;:86.4,&quot;width&quot;:329.2}"/>
</p:tagLst>
</file>

<file path=ppt/tags/tag26.xml><?xml version="1.0" encoding="utf-8"?>
<p:tagLst xmlns:p="http://schemas.openxmlformats.org/presentationml/2006/main">
  <p:tag name="KSO_WM_DIAGRAM_VIRTUALLY_FRAME" val="{&quot;height&quot;:373.7,&quot;left&quot;:540,&quot;top&quot;:86.4,&quot;width&quot;:329.2}"/>
</p:tagLst>
</file>

<file path=ppt/tags/tag27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28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29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30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31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32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33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34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35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36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37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38.xml><?xml version="1.0" encoding="utf-8"?>
<p:tagLst xmlns:p="http://schemas.openxmlformats.org/presentationml/2006/main">
  <p:tag name="KSO_WM_DIAGRAM_VIRTUALLY_FRAME" val="{&quot;height&quot;:158.4,&quot;left&quot;:43.2,&quot;top&quot;:194.4,&quot;width&quot;:863.9999212598425}"/>
</p:tagLst>
</file>

<file path=ppt/tags/tag39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40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41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42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43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44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45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46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47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48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49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50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51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52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53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54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55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56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57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58.xml><?xml version="1.0" encoding="utf-8"?>
<p:tagLst xmlns:p="http://schemas.openxmlformats.org/presentationml/2006/main">
  <p:tag name="KSO_WM_DIAGRAM_VIRTUALLY_FRAME" val="{&quot;height&quot;:378.2,&quot;left&quot;:48,&quot;top&quot;:100.8,&quot;width&quot;:840}"/>
</p:tagLst>
</file>

<file path=ppt/tags/tag59.xml><?xml version="1.0" encoding="utf-8"?>
<p:tagLst xmlns:p="http://schemas.openxmlformats.org/presentationml/2006/main">
  <p:tag name="TABLE_ENDDRAG_ORIGIN_RECT" val="813*432"/>
  <p:tag name="TABLE_ENDDRAG_RECT" val="67*93*813*432"/>
</p:tagLst>
</file>

<file path=ppt/tags/tag60.xml><?xml version="1.0" encoding="utf-8"?>
<p:tagLst xmlns:p="http://schemas.openxmlformats.org/presentationml/2006/main">
  <p:tag name="TABLE_ENDDRAG_ORIGIN_RECT" val="828*374"/>
  <p:tag name="TABLE_ENDDRAG_RECT" val="70*156*828*374"/>
</p:tagLst>
</file>

<file path=ppt/tags/tag61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62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63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64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65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66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67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68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69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70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71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72.xml><?xml version="1.0" encoding="utf-8"?>
<p:tagLst xmlns:p="http://schemas.openxmlformats.org/presentationml/2006/main">
  <p:tag name="KSO_WM_DIAGRAM_VIRTUALLY_FRAME" val="{&quot;height&quot;:70,&quot;left&quot;:55,&quot;top&quot;:71.85,&quot;width&quot;:845}"/>
</p:tagLst>
</file>

<file path=ppt/tags/tag73.xml><?xml version="1.0" encoding="utf-8"?>
<p:tagLst xmlns:p="http://schemas.openxmlformats.org/presentationml/2006/main">
  <p:tag name="KSO_WM_DIAGRAM_VIRTUALLY_FRAME" val="{&quot;height&quot;:448.05,&quot;left&quot;:60,&quot;top&quot;:26.95,&quot;width&quot;:876.9}"/>
</p:tagLst>
</file>

<file path=ppt/tags/tag74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75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76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77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78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79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80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81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82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83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84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85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86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87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88.xml><?xml version="1.0" encoding="utf-8"?>
<p:tagLst xmlns:p="http://schemas.openxmlformats.org/presentationml/2006/main">
  <p:tag name="KSO_WM_DIAGRAM_VIRTUALLY_FRAME" val="{&quot;height&quot;:553.5,&quot;left&quot;:53.45,&quot;top&quot;:-25.5,&quot;width&quot;:883.45}"/>
</p:tagLst>
</file>

<file path=ppt/tags/tag89.xml><?xml version="1.0" encoding="utf-8"?>
<p:tagLst xmlns:p="http://schemas.openxmlformats.org/presentationml/2006/main">
  <p:tag name="KSO_WM_DIAGRAM_VIRTUALLY_FRAME" val="{&quot;height&quot;:380.2,&quot;left&quot;:45.7,&quot;top&quot;:86.4,&quot;width&quot;:835.2}"/>
</p:tagLst>
</file>

<file path=ppt/tags/tag90.xml><?xml version="1.0" encoding="utf-8"?>
<p:tagLst xmlns:p="http://schemas.openxmlformats.org/presentationml/2006/main">
  <p:tag name="KSO_WM_DIAGRAM_VIRTUALLY_FRAME" val="{&quot;height&quot;:380.2,&quot;left&quot;:45.7,&quot;top&quot;:86.4,&quot;width&quot;:835.2}"/>
</p:tagLst>
</file>

<file path=ppt/tags/tag91.xml><?xml version="1.0" encoding="utf-8"?>
<p:tagLst xmlns:p="http://schemas.openxmlformats.org/presentationml/2006/main">
  <p:tag name="KSO_WM_DIAGRAM_VIRTUALLY_FRAME" val="{&quot;height&quot;:380.2,&quot;left&quot;:45.7,&quot;top&quot;:86.4,&quot;width&quot;:835.2}"/>
</p:tagLst>
</file>

<file path=ppt/tags/tag92.xml><?xml version="1.0" encoding="utf-8"?>
<p:tagLst xmlns:p="http://schemas.openxmlformats.org/presentationml/2006/main">
  <p:tag name="KSO_WM_DIAGRAM_VIRTUALLY_FRAME" val="{&quot;height&quot;:380.2,&quot;left&quot;:45.7,&quot;top&quot;:86.4,&quot;width&quot;:835.2}"/>
</p:tagLst>
</file>

<file path=ppt/tags/tag93.xml><?xml version="1.0" encoding="utf-8"?>
<p:tagLst xmlns:p="http://schemas.openxmlformats.org/presentationml/2006/main">
  <p:tag name="KSO_WM_DIAGRAM_VIRTUALLY_FRAME" val="{&quot;height&quot;:380.2,&quot;left&quot;:45.7,&quot;top&quot;:86.4,&quot;width&quot;:835.2}"/>
</p:tagLst>
</file>

<file path=ppt/tags/tag94.xml><?xml version="1.0" encoding="utf-8"?>
<p:tagLst xmlns:p="http://schemas.openxmlformats.org/presentationml/2006/main">
  <p:tag name="KSO_WM_DIAGRAM_VIRTUALLY_FRAME" val="{&quot;height&quot;:380.2,&quot;left&quot;:45.7,&quot;top&quot;:86.4,&quot;width&quot;:835.2}"/>
</p:tagLst>
</file>

<file path=ppt/tags/tag95.xml><?xml version="1.0" encoding="utf-8"?>
<p:tagLst xmlns:p="http://schemas.openxmlformats.org/presentationml/2006/main">
  <p:tag name="KSO_WM_DIAGRAM_VIRTUALLY_FRAME" val="{&quot;height&quot;:380.2,&quot;left&quot;:45.7,&quot;top&quot;:86.4,&quot;width&quot;:835.2}"/>
</p:tagLst>
</file>

<file path=ppt/tags/tag96.xml><?xml version="1.0" encoding="utf-8"?>
<p:tagLst xmlns:p="http://schemas.openxmlformats.org/presentationml/2006/main">
  <p:tag name="KSO_WM_DIAGRAM_VIRTUALLY_FRAME" val="{&quot;height&quot;:380.2,&quot;left&quot;:45.7,&quot;top&quot;:86.4,&quot;width&quot;:835.2}"/>
</p:tagLst>
</file>

<file path=ppt/tags/tag97.xml><?xml version="1.0" encoding="utf-8"?>
<p:tagLst xmlns:p="http://schemas.openxmlformats.org/presentationml/2006/main">
  <p:tag name="KSO_WM_DIAGRAM_VIRTUALLY_FRAME" val="{&quot;height&quot;:380.2,&quot;left&quot;:477.7,&quot;top&quot;:86.4,&quot;width&quot;:403.2}"/>
</p:tagLst>
</file>

<file path=ppt/tags/tag98.xml><?xml version="1.0" encoding="utf-8"?>
<p:tagLst xmlns:p="http://schemas.openxmlformats.org/presentationml/2006/main">
  <p:tag name="KSO_WM_DIAGRAM_VIRTUALLY_FRAME" val="{&quot;height&quot;:380.2,&quot;left&quot;:477.7,&quot;top&quot;:86.4,&quot;width&quot;:403.2}"/>
</p:tagLst>
</file>

<file path=ppt/tags/tag99.xml><?xml version="1.0" encoding="utf-8"?>
<p:tagLst xmlns:p="http://schemas.openxmlformats.org/presentationml/2006/main">
  <p:tag name="KSO_WM_DIAGRAM_VIRTUALLY_FRAME" val="{&quot;height&quot;:380.2,&quot;left&quot;:477.7,&quot;top&quot;:86.4,&quot;width&quot;:403.2}"/>
</p:tagLst>
</file>

<file path=ppt/tags/tag100.xml><?xml version="1.0" encoding="utf-8"?>
<p:tagLst xmlns:p="http://schemas.openxmlformats.org/presentationml/2006/main">
  <p:tag name="KSO_WM_DIAGRAM_VIRTUALLY_FRAME" val="{&quot;height&quot;:380.2,&quot;left&quot;:477.7,&quot;top&quot;:86.4,&quot;width&quot;:403.2}"/>
</p:tagLst>
</file>

<file path=ppt/tags/tag101.xml><?xml version="1.0" encoding="utf-8"?>
<p:tagLst xmlns:p="http://schemas.openxmlformats.org/presentationml/2006/main">
  <p:tag name="KSO_WM_DIAGRAM_VIRTUALLY_FRAME" val="{&quot;height&quot;:380.2,&quot;left&quot;:477.7,&quot;top&quot;:86.4,&quot;width&quot;:403.2}"/>
</p:tagLst>
</file>

<file path=ppt/tags/tag102.xml><?xml version="1.0" encoding="utf-8"?>
<p:tagLst xmlns:p="http://schemas.openxmlformats.org/presentationml/2006/main">
  <p:tag name="KSO_WM_DIAGRAM_VIRTUALLY_FRAME" val="{&quot;height&quot;:380.2,&quot;left&quot;:477.7,&quot;top&quot;:86.4,&quot;width&quot;:403.2}"/>
</p:tagLst>
</file>

<file path=ppt/tags/tag103.xml><?xml version="1.0" encoding="utf-8"?>
<p:tagLst xmlns:p="http://schemas.openxmlformats.org/presentationml/2006/main">
  <p:tag name="KSO_WM_DIAGRAM_VIRTUALLY_FRAME" val="{&quot;height&quot;:380.2,&quot;left&quot;:477.7,&quot;top&quot;:86.4,&quot;width&quot;:403.2}"/>
</p:tagLst>
</file>

<file path=ppt/tags/tag104.xml><?xml version="1.0" encoding="utf-8"?>
<p:tagLst xmlns:p="http://schemas.openxmlformats.org/presentationml/2006/main">
  <p:tag name="KSO_WM_DIAGRAM_VIRTUALLY_FRAME" val="{&quot;height&quot;:380.2,&quot;left&quot;:477.7,&quot;top&quot;:86.4,&quot;width&quot;:403.2}"/>
</p:tagLst>
</file>

<file path=ppt/tags/tag105.xml><?xml version="1.0" encoding="utf-8"?>
<p:tagLst xmlns:p="http://schemas.openxmlformats.org/presentationml/2006/main">
  <p:tag name="TABLE_ENDDRAG_ORIGIN_RECT" val="899*405"/>
  <p:tag name="TABLE_ENDDRAG_RECT" val="34*94*899*405"/>
</p:tagLst>
</file>

<file path=ppt/tags/tag106.xml><?xml version="1.0" encoding="utf-8"?>
<p:tagLst xmlns:p="http://schemas.openxmlformats.org/presentationml/2006/main">
  <p:tag name="TABLE_ENDDRAG_ORIGIN_RECT" val="920*377"/>
  <p:tag name="TABLE_ENDDRAG_RECT" val="20*101*920*377"/>
</p:tagLst>
</file>

<file path=ppt/tags/tag107.xml><?xml version="1.0" encoding="utf-8"?>
<p:tagLst xmlns:p="http://schemas.openxmlformats.org/presentationml/2006/main">
  <p:tag name="TABLE_ENDDRAG_ORIGIN_RECT" val="892*406"/>
  <p:tag name="TABLE_ENDDRAG_RECT" val="23*92*892*406"/>
</p:tagLst>
</file>

<file path=ppt/tags/tag108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09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10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11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12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13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14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15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16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17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18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19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20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21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22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23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24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25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26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27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28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29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30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31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32.xml><?xml version="1.0" encoding="utf-8"?>
<p:tagLst xmlns:p="http://schemas.openxmlformats.org/presentationml/2006/main">
  <p:tag name="KSO_WM_DIAGRAM_VIRTUALLY_FRAME" val="{&quot;height&quot;:363.25,&quot;left&quot;:498.0750393700788,&quot;top&quot;:130.4,&quot;width&quot;:463.59}"/>
</p:tagLst>
</file>

<file path=ppt/tags/tag133.xml><?xml version="1.0" encoding="utf-8"?>
<p:tagLst xmlns:p="http://schemas.openxmlformats.org/presentationml/2006/main">
  <p:tag name="resource_record_key" val="{&quot;29&quot;:[50000038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11214</Words>
  <Application>WPS 演示</Application>
  <PresentationFormat>On-screen Show (4:3)</PresentationFormat>
  <Paragraphs>1251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Arial</vt:lpstr>
      <vt:lpstr>宋体</vt:lpstr>
      <vt:lpstr>Wingdings</vt:lpstr>
      <vt:lpstr>Arial</vt:lpstr>
      <vt:lpstr>微软雅黑</vt:lpstr>
      <vt:lpstr>Aptos Display</vt:lpstr>
      <vt:lpstr>Segoe UI Variable Display</vt:lpstr>
      <vt:lpstr>Noto Sans SC</vt:lpstr>
      <vt:lpstr>Arial Unicode MS</vt:lpstr>
      <vt:lpstr>Calibri</vt:lpstr>
      <vt:lpstr>Microsoft YaHei UI</vt:lpstr>
      <vt:lpstr>Aptos</vt:lpstr>
      <vt:lpstr>Segoe UI</vt:lpstr>
      <vt:lpstr>Aptos Display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fafa</cp:lastModifiedBy>
  <cp:revision>109</cp:revision>
  <dcterms:created xsi:type="dcterms:W3CDTF">2013-01-27T09:14:00Z</dcterms:created>
  <dcterms:modified xsi:type="dcterms:W3CDTF">2026-07-06T09:26:55Z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3DDCCDD94D06451BA88DF074852D353A_13</vt:lpwstr>
  </property>
</Properties>
</file>